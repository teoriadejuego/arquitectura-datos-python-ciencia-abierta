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1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e460cc4e4e43c0" /><Relationship Type="http://schemas.openxmlformats.org/officeDocument/2006/relationships/extended-properties" Target="/docProps/app.xml" Id="R3a2ae45a4f3048b0" /><Relationship Type="http://schemas.openxmlformats.org/officeDocument/2006/relationships/officeDocument" Target="/ppt/presentation.xml" Id="Rb5b52ae3d0bc49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3261ad75994792"/>
  </p:sldMasterIdLst>
  <p:notesMasterIdLst>
    <p:notesMasterId xmlns:r="http://schemas.openxmlformats.org/officeDocument/2006/relationships" r:id="Rb13d68a237ca4089"/>
  </p:notesMasterIdLst>
  <p:sldIdLst>
    <p:sldId xmlns:r="http://schemas.openxmlformats.org/officeDocument/2006/relationships" id="256" r:id="Rf2ac46b046f24bf8"/>
    <p:sldId xmlns:r="http://schemas.openxmlformats.org/officeDocument/2006/relationships" id="257" r:id="Rc0401a71b0ff4083"/>
    <p:sldId xmlns:r="http://schemas.openxmlformats.org/officeDocument/2006/relationships" id="258" r:id="Rbbab35d3d656410a"/>
    <p:sldId xmlns:r="http://schemas.openxmlformats.org/officeDocument/2006/relationships" id="259" r:id="Ra4b9951423a646de"/>
    <p:sldId xmlns:r="http://schemas.openxmlformats.org/officeDocument/2006/relationships" id="260" r:id="R584b3227b5834af8"/>
    <p:sldId xmlns:r="http://schemas.openxmlformats.org/officeDocument/2006/relationships" id="261" r:id="R38ed1b2aa263423f"/>
    <p:sldId xmlns:r="http://schemas.openxmlformats.org/officeDocument/2006/relationships" id="262" r:id="Re559bf1f0c0b4020"/>
    <p:sldId xmlns:r="http://schemas.openxmlformats.org/officeDocument/2006/relationships" id="263" r:id="R439ba13c498a48cc"/>
    <p:sldId xmlns:r="http://schemas.openxmlformats.org/officeDocument/2006/relationships" id="264" r:id="R39b872a391b644a1"/>
    <p:sldId xmlns:r="http://schemas.openxmlformats.org/officeDocument/2006/relationships" id="265" r:id="R2ec7ec4c9cf64141"/>
    <p:sldId xmlns:r="http://schemas.openxmlformats.org/officeDocument/2006/relationships" id="266" r:id="Ra8e2b2d3ecf24080"/>
    <p:sldId xmlns:r="http://schemas.openxmlformats.org/officeDocument/2006/relationships" id="267" r:id="Rf1843a9842ac4acc"/>
    <p:sldId xmlns:r="http://schemas.openxmlformats.org/officeDocument/2006/relationships" id="268" r:id="R9c39a1a889294939"/>
    <p:sldId xmlns:r="http://schemas.openxmlformats.org/officeDocument/2006/relationships" id="269" r:id="R7b81410616564d4e"/>
    <p:sldId xmlns:r="http://schemas.openxmlformats.org/officeDocument/2006/relationships" id="270" r:id="Rd227e6cdf84149c2"/>
    <p:sldId xmlns:r="http://schemas.openxmlformats.org/officeDocument/2006/relationships" id="271" r:id="Rf1106144b90a4841"/>
    <p:sldId xmlns:r="http://schemas.openxmlformats.org/officeDocument/2006/relationships" id="272" r:id="R2761b554b21e4093"/>
    <p:sldId xmlns:r="http://schemas.openxmlformats.org/officeDocument/2006/relationships" id="273" r:id="R3b4463d5b8bf41f0"/>
    <p:sldId xmlns:r="http://schemas.openxmlformats.org/officeDocument/2006/relationships" id="274" r:id="Rb611cfc52df840e7"/>
    <p:sldId xmlns:r="http://schemas.openxmlformats.org/officeDocument/2006/relationships" id="275" r:id="R4000d7d3d33a4df0"/>
    <p:sldId xmlns:r="http://schemas.openxmlformats.org/officeDocument/2006/relationships" id="276" r:id="R0590b991c3384f6e"/>
    <p:sldId xmlns:r="http://schemas.openxmlformats.org/officeDocument/2006/relationships" id="277" r:id="R93eadaed097b45c4"/>
    <p:sldId xmlns:r="http://schemas.openxmlformats.org/officeDocument/2006/relationships" id="278" r:id="R6155490378484de6"/>
    <p:sldId xmlns:r="http://schemas.openxmlformats.org/officeDocument/2006/relationships" id="279" r:id="R09d8d29152fc4c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bf1bb673ae4710" /><Relationship Type="http://schemas.openxmlformats.org/officeDocument/2006/relationships/slideMaster" Target="/ppt/slideMasters/slideMaster1.xml" Id="Rc33261ad75994792" /><Relationship Type="http://schemas.openxmlformats.org/officeDocument/2006/relationships/notesMaster" Target="/ppt/notesMasters/notesMaster1.xml" Id="Rb13d68a237ca4089" /><Relationship Type="http://schemas.openxmlformats.org/officeDocument/2006/relationships/presProps" Target="/ppt/presProps.xml" Id="R4a5979a3d4af4df9" /><Relationship Type="http://schemas.openxmlformats.org/officeDocument/2006/relationships/viewProps" Target="/ppt/viewProps.xml" Id="R6fc423d9214d45b3" /><Relationship Type="http://schemas.openxmlformats.org/officeDocument/2006/relationships/tableStyles" Target="/ppt/tableStyles.xml" Id="Rfbfeddb45b774387" /><Relationship Type="http://schemas.openxmlformats.org/officeDocument/2006/relationships/slide" Target="/ppt/slides/slide1.xml" Id="Rf2ac46b046f24bf8" /><Relationship Type="http://schemas.openxmlformats.org/officeDocument/2006/relationships/slide" Target="/ppt/slides/slide2.xml" Id="Rc0401a71b0ff4083" /><Relationship Type="http://schemas.openxmlformats.org/officeDocument/2006/relationships/slide" Target="/ppt/slides/slide3.xml" Id="Rbbab35d3d656410a" /><Relationship Type="http://schemas.openxmlformats.org/officeDocument/2006/relationships/slide" Target="/ppt/slides/slide4.xml" Id="Ra4b9951423a646de" /><Relationship Type="http://schemas.openxmlformats.org/officeDocument/2006/relationships/slide" Target="/ppt/slides/slide5.xml" Id="R584b3227b5834af8" /><Relationship Type="http://schemas.openxmlformats.org/officeDocument/2006/relationships/slide" Target="/ppt/slides/slide6.xml" Id="R38ed1b2aa263423f" /><Relationship Type="http://schemas.openxmlformats.org/officeDocument/2006/relationships/slide" Target="/ppt/slides/slide7.xml" Id="Re559bf1f0c0b4020" /><Relationship Type="http://schemas.openxmlformats.org/officeDocument/2006/relationships/slide" Target="/ppt/slides/slide8.xml" Id="R439ba13c498a48cc" /><Relationship Type="http://schemas.openxmlformats.org/officeDocument/2006/relationships/slide" Target="/ppt/slides/slide9.xml" Id="R39b872a391b644a1" /><Relationship Type="http://schemas.openxmlformats.org/officeDocument/2006/relationships/slide" Target="/ppt/slides/slide10.xml" Id="R2ec7ec4c9cf64141" /><Relationship Type="http://schemas.openxmlformats.org/officeDocument/2006/relationships/slide" Target="/ppt/slides/slide11.xml" Id="Ra8e2b2d3ecf24080" /><Relationship Type="http://schemas.openxmlformats.org/officeDocument/2006/relationships/slide" Target="/ppt/slides/slide12.xml" Id="Rf1843a9842ac4acc" /><Relationship Type="http://schemas.openxmlformats.org/officeDocument/2006/relationships/slide" Target="/ppt/slides/slide13.xml" Id="R9c39a1a889294939" /><Relationship Type="http://schemas.openxmlformats.org/officeDocument/2006/relationships/slide" Target="/ppt/slides/slide14.xml" Id="R7b81410616564d4e" /><Relationship Type="http://schemas.openxmlformats.org/officeDocument/2006/relationships/slide" Target="/ppt/slides/slide15.xml" Id="Rd227e6cdf84149c2" /><Relationship Type="http://schemas.openxmlformats.org/officeDocument/2006/relationships/slide" Target="/ppt/slides/slide16.xml" Id="Rf1106144b90a4841" /><Relationship Type="http://schemas.openxmlformats.org/officeDocument/2006/relationships/slide" Target="/ppt/slides/slide17.xml" Id="R2761b554b21e4093" /><Relationship Type="http://schemas.openxmlformats.org/officeDocument/2006/relationships/slide" Target="/ppt/slides/slide18.xml" Id="R3b4463d5b8bf41f0" /><Relationship Type="http://schemas.openxmlformats.org/officeDocument/2006/relationships/slide" Target="/ppt/slides/slide19.xml" Id="Rb611cfc52df840e7" /><Relationship Type="http://schemas.openxmlformats.org/officeDocument/2006/relationships/slide" Target="/ppt/slides/slide20.xml" Id="R4000d7d3d33a4df0" /><Relationship Type="http://schemas.openxmlformats.org/officeDocument/2006/relationships/slide" Target="/ppt/slides/slide21.xml" Id="R0590b991c3384f6e" /><Relationship Type="http://schemas.openxmlformats.org/officeDocument/2006/relationships/slide" Target="/ppt/slides/slide22.xml" Id="R93eadaed097b45c4" /><Relationship Type="http://schemas.openxmlformats.org/officeDocument/2006/relationships/slide" Target="/ppt/slides/slide23.xml" Id="R6155490378484de6" /><Relationship Type="http://schemas.openxmlformats.org/officeDocument/2006/relationships/slide" Target="/ppt/slides/slide24.xml" Id="R09d8d29152fc4c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dba97a605c49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642276433a483e" /><Relationship Type="http://schemas.openxmlformats.org/officeDocument/2006/relationships/notesMaster" Target="/ppt/notesMasters/notesMaster1.xml" Id="R5a56027d9d4740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e312e32daa42fc" /><Relationship Type="http://schemas.openxmlformats.org/officeDocument/2006/relationships/notesMaster" Target="/ppt/notesMasters/notesMaster1.xml" Id="Rfbe6c750f6fa45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d89ee2ef7343d6" /><Relationship Type="http://schemas.openxmlformats.org/officeDocument/2006/relationships/notesMaster" Target="/ppt/notesMasters/notesMaster1.xml" Id="R3a8a0006efbb4f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2bc855cffa4f04" /><Relationship Type="http://schemas.openxmlformats.org/officeDocument/2006/relationships/notesMaster" Target="/ppt/notesMasters/notesMaster1.xml" Id="R9b1a0fa54e9343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5b0542bbde425d" /><Relationship Type="http://schemas.openxmlformats.org/officeDocument/2006/relationships/notesMaster" Target="/ppt/notesMasters/notesMaster1.xml" Id="Rb45ab63f72c64e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d23bcdd3b24ab6" /><Relationship Type="http://schemas.openxmlformats.org/officeDocument/2006/relationships/notesMaster" Target="/ppt/notesMasters/notesMaster1.xml" Id="R956011866a8849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283d07fb034cfd" /><Relationship Type="http://schemas.openxmlformats.org/officeDocument/2006/relationships/notesMaster" Target="/ppt/notesMasters/notesMaster1.xml" Id="Rf2919d6eb2d249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6062d2b44c4667" /><Relationship Type="http://schemas.openxmlformats.org/officeDocument/2006/relationships/notesMaster" Target="/ppt/notesMasters/notesMaster1.xml" Id="R3081e40ed9284a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754df243b049cb" /><Relationship Type="http://schemas.openxmlformats.org/officeDocument/2006/relationships/notesMaster" Target="/ppt/notesMasters/notesMaster1.xml" Id="R0176a03228de49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311fe13764459b" /><Relationship Type="http://schemas.openxmlformats.org/officeDocument/2006/relationships/notesMaster" Target="/ppt/notesMasters/notesMaster1.xml" Id="R2dee0602210b4f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2ec25500204ad4" /><Relationship Type="http://schemas.openxmlformats.org/officeDocument/2006/relationships/notesMaster" Target="/ppt/notesMasters/notesMaster1.xml" Id="R2cd11621601549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4cc542bd484130" /><Relationship Type="http://schemas.openxmlformats.org/officeDocument/2006/relationships/notesMaster" Target="/ppt/notesMasters/notesMaster1.xml" Id="Raebfe2eacdc14c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359193e396e40ee" /><Relationship Type="http://schemas.openxmlformats.org/officeDocument/2006/relationships/notesMaster" Target="/ppt/notesMasters/notesMaster1.xml" Id="R0461849f0d0d43c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84563a2131a4c78" /><Relationship Type="http://schemas.openxmlformats.org/officeDocument/2006/relationships/notesMaster" Target="/ppt/notesMasters/notesMaster1.xml" Id="R1bf2bdda0821471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159e1b150bd419e" /><Relationship Type="http://schemas.openxmlformats.org/officeDocument/2006/relationships/notesMaster" Target="/ppt/notesMasters/notesMaster1.xml" Id="R3978a4304a3d41f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dab8c6b85664afc" /><Relationship Type="http://schemas.openxmlformats.org/officeDocument/2006/relationships/notesMaster" Target="/ppt/notesMasters/notesMaster1.xml" Id="R70791549594a45a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6c0e05ad9ee4c37" /><Relationship Type="http://schemas.openxmlformats.org/officeDocument/2006/relationships/notesMaster" Target="/ppt/notesMasters/notesMaster1.xml" Id="R3a1c6d4e23b4476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5246c2b7c8d424a" /><Relationship Type="http://schemas.openxmlformats.org/officeDocument/2006/relationships/notesMaster" Target="/ppt/notesMasters/notesMaster1.xml" Id="R1ca2dd9399134f3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79a32c902f74ac7" /><Relationship Type="http://schemas.openxmlformats.org/officeDocument/2006/relationships/notesMaster" Target="/ppt/notesMasters/notesMaster1.xml" Id="R3aaca794e8ee40a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d5e9d5f4a894a9d" /><Relationship Type="http://schemas.openxmlformats.org/officeDocument/2006/relationships/notesMaster" Target="/ppt/notesMasters/notesMaster1.xml" Id="Rf9b8d605173d4eb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9f94afaed5a43b2" /><Relationship Type="http://schemas.openxmlformats.org/officeDocument/2006/relationships/notesMaster" Target="/ppt/notesMasters/notesMaster1.xml" Id="R35e5745e21c6428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98e2d5e6b30415a" /><Relationship Type="http://schemas.openxmlformats.org/officeDocument/2006/relationships/notesMaster" Target="/ppt/notesMasters/notesMaster1.xml" Id="R94161f3eff864c9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9051aa53f0347d3" /><Relationship Type="http://schemas.openxmlformats.org/officeDocument/2006/relationships/notesMaster" Target="/ppt/notesMasters/notesMaster1.xml" Id="R58b9dbea3b034ef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d1cceed66c14b9d" /><Relationship Type="http://schemas.openxmlformats.org/officeDocument/2006/relationships/notesMaster" Target="/ppt/notesMasters/notesMaster1.xml" Id="R659d436db35d45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cc3a2f5b2b4c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23815f6c7646f3" /><Relationship Type="http://schemas.openxmlformats.org/officeDocument/2006/relationships/slideLayout" Target="/ppt/slideLayouts/slideLayout1.xml" Id="Ra9249ba1b3d045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249ba1b3d045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b321b3bbc47c7" /><Relationship Type="http://schemas.openxmlformats.org/officeDocument/2006/relationships/hyperlink" Target="https://www.youtube.com/watch?v=YpsyM3I0h9k" TargetMode="External" Id="R1545ab5e0aa84ee5" /><Relationship Type="http://schemas.openxmlformats.org/officeDocument/2006/relationships/hyperlink" Target="https://www.youtube.com/watch?v=YpsyM3I0h9k" TargetMode="External" Id="R630669811ec940f4" /><Relationship Type="http://schemas.openxmlformats.org/officeDocument/2006/relationships/hyperlink" Target="https://www.youtube.com/watch?v=YpsyM3I0h9k" TargetMode="External" Id="Rfc96f084f0ad4589" /><Relationship Type="http://schemas.openxmlformats.org/officeDocument/2006/relationships/image" Target="/ppt/media/image.png" Id="R3fdb4b7ed9f84f20" /><Relationship Type="http://schemas.openxmlformats.org/officeDocument/2006/relationships/image" Target="/ppt/media/image2.png" Id="R8f6576477fbb45c3" /><Relationship Type="http://schemas.openxmlformats.org/officeDocument/2006/relationships/notesSlide" Target="/ppt/notesSlides/notesSlide1.xml" Id="R9889d7f99b1348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9652ff59940f8" /><Relationship Type="http://schemas.openxmlformats.org/officeDocument/2006/relationships/image" Target="/ppt/media/image3.png" Id="R506ed8abccec4aea" /><Relationship Type="http://schemas.openxmlformats.org/officeDocument/2006/relationships/image" Target="/ppt/media/image4.png" Id="R48f80de89b014ec8" /><Relationship Type="http://schemas.openxmlformats.org/officeDocument/2006/relationships/notesSlide" Target="/ppt/notesSlides/notesSlide2.xml" Id="R2d6c8854f55f49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d273795624cb8" /><Relationship Type="http://schemas.openxmlformats.org/officeDocument/2006/relationships/notesSlide" Target="/ppt/notesSlides/notesSlide3.xml" Id="R91a16ead53cc4c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fdf33fb394456" /><Relationship Type="http://schemas.openxmlformats.org/officeDocument/2006/relationships/notesSlide" Target="/ppt/notesSlides/notesSlide4.xml" Id="Re3c94e384a3645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872e1ecd14142" /><Relationship Type="http://schemas.openxmlformats.org/officeDocument/2006/relationships/notesSlide" Target="/ppt/notesSlides/notesSlide5.xml" Id="R82c2d0126b7a44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8b3729de4477b" /><Relationship Type="http://schemas.openxmlformats.org/officeDocument/2006/relationships/notesSlide" Target="/ppt/notesSlides/notesSlide6.xml" Id="Re54ecffe956c42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203bc5b8a4f51" /><Relationship Type="http://schemas.openxmlformats.org/officeDocument/2006/relationships/image" Target="/ppt/media/image3.png" Id="Rfef771e602944145" /><Relationship Type="http://schemas.openxmlformats.org/officeDocument/2006/relationships/image" Target="/ppt/media/image4.png" Id="R0e544279248440d1" /><Relationship Type="http://schemas.openxmlformats.org/officeDocument/2006/relationships/notesSlide" Target="/ppt/notesSlides/notesSlide7.xml" Id="R6bcfbeab6dce41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81bb56cef4bb9" /><Relationship Type="http://schemas.openxmlformats.org/officeDocument/2006/relationships/notesSlide" Target="/ppt/notesSlides/notesSlide8.xml" Id="R5a2f9cfabb8042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3b962d5104e9d" /><Relationship Type="http://schemas.openxmlformats.org/officeDocument/2006/relationships/notesSlide" Target="/ppt/notesSlides/notesSlide9.xml" Id="R2be557c3f16b41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923f307714d11" /><Relationship Type="http://schemas.openxmlformats.org/officeDocument/2006/relationships/notesSlide" Target="/ppt/notesSlides/notesSlide10.xml" Id="R7db1cc36037b40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4956781cf4ee6" /><Relationship Type="http://schemas.openxmlformats.org/officeDocument/2006/relationships/image" Target="/ppt/media/image5.png" Id="R9e4fc42954cc4e21" /><Relationship Type="http://schemas.openxmlformats.org/officeDocument/2006/relationships/notesSlide" Target="/ppt/notesSlides/notesSlide11.xml" Id="R69fe7fb6f93e4a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bf5b1bcf04077" /><Relationship Type="http://schemas.openxmlformats.org/officeDocument/2006/relationships/notesSlide" Target="/ppt/notesSlides/notesSlide12.xml" Id="R5f5d022bbf5649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39303bad04240" /><Relationship Type="http://schemas.openxmlformats.org/officeDocument/2006/relationships/notesSlide" Target="/ppt/notesSlides/notesSlide13.xml" Id="R9def1320209c4ad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117cde67a4c7b" /><Relationship Type="http://schemas.openxmlformats.org/officeDocument/2006/relationships/notesSlide" Target="/ppt/notesSlides/notesSlide14.xml" Id="Rd0d1de228a3d4c6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fcd4dc0974307" /><Relationship Type="http://schemas.openxmlformats.org/officeDocument/2006/relationships/notesSlide" Target="/ppt/notesSlides/notesSlide15.xml" Id="R1dbf1443d63a439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acfd149b9407f" /><Relationship Type="http://schemas.openxmlformats.org/officeDocument/2006/relationships/notesSlide" Target="/ppt/notesSlides/notesSlide16.xml" Id="R02bf072875dd425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56a7f1a2540a5" /><Relationship Type="http://schemas.openxmlformats.org/officeDocument/2006/relationships/image" Target="/ppt/media/image6.png" Id="R501b554f47e94032" /><Relationship Type="http://schemas.openxmlformats.org/officeDocument/2006/relationships/image" Target="/ppt/media/image7.png" Id="Re7077a27f7054867" /><Relationship Type="http://schemas.openxmlformats.org/officeDocument/2006/relationships/notesSlide" Target="/ppt/notesSlides/notesSlide17.xml" Id="Rb623d07f03a5446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5a07ab0d943f0" /><Relationship Type="http://schemas.openxmlformats.org/officeDocument/2006/relationships/notesSlide" Target="/ppt/notesSlides/notesSlide18.xml" Id="R4f567ae392074ca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8a56a0b074785" /><Relationship Type="http://schemas.openxmlformats.org/officeDocument/2006/relationships/notesSlide" Target="/ppt/notesSlides/notesSlide19.xml" Id="R44e26238caf244f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1b7193b084f7a" /><Relationship Type="http://schemas.openxmlformats.org/officeDocument/2006/relationships/image" Target="/ppt/media/image8.png" Id="R7e47fbbc63a74a79" /><Relationship Type="http://schemas.openxmlformats.org/officeDocument/2006/relationships/notesSlide" Target="/ppt/notesSlides/notesSlide20.xml" Id="R71fbd81705184ca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b46dd1fb34bf2" /><Relationship Type="http://schemas.openxmlformats.org/officeDocument/2006/relationships/chart" Target="/ppt/slides/charts/chart1.xml" Id="Rd6d511ad81b7488a" /><Relationship Type="http://schemas.openxmlformats.org/officeDocument/2006/relationships/notesSlide" Target="/ppt/notesSlides/notesSlide21.xml" Id="R1fa001fb8140454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daaf4192f4da8" /><Relationship Type="http://schemas.openxmlformats.org/officeDocument/2006/relationships/notesSlide" Target="/ppt/notesSlides/notesSlide22.xml" Id="R20d8257abb36408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2fbd1a2034419" /><Relationship Type="http://schemas.openxmlformats.org/officeDocument/2006/relationships/image" Target="/ppt/media/image9.png" Id="R113106ac2d404453" /><Relationship Type="http://schemas.openxmlformats.org/officeDocument/2006/relationships/image" Target="/ppt/media/image.svg" Id="R0d21cc35dc10473b" /><Relationship Type="http://schemas.openxmlformats.org/officeDocument/2006/relationships/image" Target="/ppt/media/image10.png" Id="R8ce40fd5dc334148" /><Relationship Type="http://schemas.openxmlformats.org/officeDocument/2006/relationships/image" Target="/ppt/media/image2.svg" Id="Re61116cda1af44b1" /><Relationship Type="http://schemas.openxmlformats.org/officeDocument/2006/relationships/notesSlide" Target="/ppt/notesSlides/notesSlide23.xml" Id="Rf4d07cffc9fa46c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141e708fc400e" /><Relationship Type="http://schemas.openxmlformats.org/officeDocument/2006/relationships/notesSlide" Target="/ppt/notesSlides/notesSlide24.xml" Id="R69c2d909d39546b3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Naranja primero</c:v>
          </c:tx>
          <c:spPr>
            <a:solidFill xmlns:a="http://schemas.openxmlformats.org/drawingml/2006/main">
              <a:srgbClr val="F28C00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50" b="1">
                    <a:solidFill>
                      <a:srgbClr val="202020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"/>
              <c:pt idx="0">
                <c:v>Media sintética</c:v>
              </c:pt>
            </c:strLit>
          </c:cat>
          <c:val>
            <c:numLit>
              <c:formatCode>General</c:formatCode>
              <c:ptCount val="1"/>
              <c:pt idx="0">
                <c:v>89.25</c:v>
              </c:pt>
            </c:numLit>
          </c:val>
        </c:ser>
        <c:ser>
          <c:idx val="1"/>
          <c:order val="1"/>
          <c:tx>
            <c:v>Plátano primero</c:v>
          </c:tx>
          <c:spPr>
            <a:solidFill xmlns:a="http://schemas.openxmlformats.org/drawingml/2006/main">
              <a:srgbClr val="0058A3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50" b="1">
                    <a:solidFill>
                      <a:srgbClr val="202020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"/>
              <c:pt idx="0">
                <c:v>Media sintética</c:v>
              </c:pt>
            </c:strLit>
          </c:cat>
          <c:val>
            <c:numLit>
              <c:formatCode>General</c:formatCode>
              <c:ptCount val="1"/>
              <c:pt idx="0">
                <c:v>68.67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1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7C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 b="1">
                    <a:solidFill>
                      <a:srgbClr val="66645F"/>
                    </a:solidFill>
                  </a:rPr>
                  <a:t>km/h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66645F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20202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45F"/>
                </a:solidFill>
              </a:defRPr>
            </a:pPr>
          </a:p>
        </c:txPr>
        <c:crossAx val="48650112"/>
        <c:crosses val="autoZero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20202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58A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5CF741AF-F47B-4E09-95D6-6D20B579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CB6A35AB-B266-445F-95B8-FBE45662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38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¿A QUÉ VELOCIDAD</a:t>
            </a:r>
          </a:p>
          <a:p xmlns:a="http://schemas.openxmlformats.org/drawingml/2006/main">
            <a:pPr algn="l">
              <a:buNone/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CONDUCE UNA FRUTA?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AC445DF1-1EE3-4FFA-8B4C-26A01A10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8E9F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E9F8"/>
                </a:solidFill>
                <a:latin typeface="Arial"/>
                <a:ea typeface="Arial"/>
                <a:cs typeface="Arial"/>
              </a:rPr>
              <a:t>Elija dos </a:t>
            </a:r>
            <a:r>
              <a:rPr sz="1875" b="0">
                <a:solidFill>
                  <a:srgbClr val="D8E9F8"/>
                </a:solidFill>
                <a:latin typeface="Arial"/>
                <a:ea typeface="Arial"/>
                <a:cs typeface="Arial"/>
              </a:rPr>
              <a:t>límites</a:t>
            </a:r>
            <a:r>
              <a:rPr sz="1875" b="0">
                <a:solidFill>
                  <a:srgbClr val="D8E9F8"/>
                </a:solidFill>
                <a:latin typeface="Arial"/>
                <a:ea typeface="Arial"/>
                <a:cs typeface="Arial"/>
              </a:rPr>
              <a:t>. </a:t>
            </a:r>
            <a:endParaRPr sz="1875" b="0">
              <a:solidFill>
                <a:srgbClr val="D8E9F8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875" b="0">
                <a:solidFill>
                  <a:srgbClr val="D8E9F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E9F8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>
                <a:solidFill>
                  <a:srgbClr val="D8E9F8"/>
                </a:solidFill>
                <a:latin typeface="Arial"/>
                <a:ea typeface="Arial"/>
                <a:cs typeface="Arial"/>
                <a:hlinkClick xmlns:r="http://schemas.openxmlformats.org/officeDocument/2006/relationships" r:id="R1545ab5e0aa84ee5"/>
              </a:rPr>
              <a:t>▶ </a:t>
            </a:r>
            <a:r>
              <a:rPr sz="1875" b="1">
                <a:solidFill>
                  <a:srgbClr val="D8E9F8"/>
                </a:solidFill>
                <a:latin typeface="Arial"/>
                <a:ea typeface="Arial"/>
                <a:cs typeface="Arial"/>
                <a:hlinkClick xmlns:r="http://schemas.openxmlformats.org/officeDocument/2006/relationships" r:id="R630669811ec940f4"/>
              </a:rPr>
              <a:t>Vídeo</a:t>
            </a:r>
            <a:r>
              <a:rPr sz="1875" b="1">
                <a:solidFill>
                  <a:srgbClr val="D8E9F8"/>
                </a:solidFill>
                <a:latin typeface="Arial"/>
                <a:ea typeface="Arial"/>
                <a:cs typeface="Arial"/>
                <a:hlinkClick xmlns:r="http://schemas.openxmlformats.org/officeDocument/2006/relationships" r:id="Rfc96f084f0ad4589"/>
              </a:rPr>
              <a:t> 5 s</a:t>
            </a:r>
          </a:p>
        </p:txBody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AF497D69-E0E2-4A27-868D-3320EFAC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76250"/>
            <a:ext cx="1962150" cy="1962150"/>
          </a:xfrm>
          <a:prstGeom xmlns:a="http://schemas.openxmlformats.org/drawingml/2006/main" prst="roundRect">
            <a:avLst>
              <a:gd name="adj" fmla="val 49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7" name="Imagen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db4b7ed9f84f20"/>
          <a:stretch xmlns:a="http://schemas.openxmlformats.org/drawingml/2006/main"/>
        </p:blipFill>
        <p:spPr>
          <a:xfrm xmlns:a="http://schemas.openxmlformats.org/drawingml/2006/main">
            <a:off x="7315200" y="495300"/>
            <a:ext cx="1924050" cy="1924050"/>
          </a:xfrm>
          <a:prstGeom xmlns:a="http://schemas.openxmlformats.org/drawingml/2006/main" prst="roundRect">
            <a:avLst>
              <a:gd name="adj" fmla="val 50000"/>
            </a:avLst>
          </a:prstGeom>
        </p:spPr>
      </p:pic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9B08E796-06D5-4008-ADFB-0E8490E4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76250"/>
            <a:ext cx="1962150" cy="1962150"/>
          </a:xfrm>
          <a:prstGeom xmlns:a="http://schemas.openxmlformats.org/drawingml/2006/main" prst="roundRect">
            <a:avLst>
              <a:gd name="adj" fmla="val 49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9" name="Imagen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576477fbb45c3"/>
          <a:stretch xmlns:a="http://schemas.openxmlformats.org/drawingml/2006/main"/>
        </p:blipFill>
        <p:spPr>
          <a:xfrm xmlns:a="http://schemas.openxmlformats.org/drawingml/2006/main">
            <a:off x="9410700" y="495300"/>
            <a:ext cx="1924050" cy="1924050"/>
          </a:xfrm>
          <a:prstGeom xmlns:a="http://schemas.openxmlformats.org/drawingml/2006/main" prst="roundRect">
            <a:avLst>
              <a:gd name="adj" fmla="val 50000"/>
            </a:avLst>
          </a:prstGeom>
        </p:spPr>
      </p:pic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D3339A26-C5C6-47A0-BDC4-40B580DC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431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NARANJA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E1492464-F963-4072-A720-48C06C15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431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PLÁTANO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8081FA3-A987-4A34-BF12-22123FCE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5621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F44BE20F-A853-4B99-A9E4-05B5F7F7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67350"/>
            <a:ext cx="15621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DC7FDBC1-F60F-4BE2-9DB8-852498C7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467350"/>
            <a:ext cx="15621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70</a:t>
            </a:r>
          </a:p>
        </p:txBody>
      </p:sp>
      <p:sp>
        <p:nvSpPr>
          <p:cNvPr id="13" name="Rectángulo: esquinas redondeadas 12">
            <a:extLst xmlns:a="http://schemas.openxmlformats.org/drawingml/2006/main">
              <a:ext uri="{FF2B5EF4-FFF2-40B4-BE49-F238E27FC236}">
                <a16:creationId xmlns:a16="http://schemas.microsoft.com/office/drawing/2014/main" id="{7862C59D-30C9-4C49-9790-37D760BE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467350"/>
            <a:ext cx="1562100" cy="571500"/>
          </a:xfrm>
          <a:prstGeom xmlns:a="http://schemas.openxmlformats.org/drawingml/2006/main" prst="roundRect">
            <a:avLst>
              <a:gd name="adj" fmla="val 10000"/>
            </a:avLst>
          </a:prstGeom>
        </p:spPr>
        <p:style>
          <a:lnRef xmlns:a="http://schemas.openxmlformats.org/drawingml/2006/main" idx="2">
            <a:schemeClr val="dk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90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261E55A1-7D65-4E0B-8DF2-50A2C171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67350"/>
            <a:ext cx="15621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110</a:t>
            </a:r>
          </a:p>
        </p:txBody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5C452CF4-E89D-43FD-8957-229FAB27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467350"/>
            <a:ext cx="15621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130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D658D7A6-81A4-4299-B516-A1FF9186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62927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km/h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41F08554-3043-45DB-9ED7-9A801A41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762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DA1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DA1A"/>
                </a:solidFill>
                <a:latin typeface="Arial"/>
                <a:ea typeface="Arial"/>
                <a:cs typeface="Arial"/>
              </a:rPr>
              <a:t>Arquitectura de Datos en Python y Ciencia Abierta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59AB0AE-A374-48F8-AC93-737D579F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</a:t>
            </a: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septiembre</a:t>
            </a: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2026 · 180 </a:t>
            </a: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minutos</a:t>
            </a:r>
            <a:endParaRPr sz="1575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561417-F41B-4712-BAF3-B182C5D7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86868"/>
                </a:solidFill>
              </a:defRPr>
            </a:pPr>
            <a:r>
              <a:rPr sz="750">
                <a:solidFill>
                  <a:srgbClr val="686868"/>
                </a:solidFill>
              </a:rPr>
              <a:t>© 2026 Antonio Alfonso Costillo · aalfonso@us.es</a:t>
            </a:r>
          </a:p>
        </p:txBody>
      </p:sp>
    </p:spTree>
    <p:extLst>
      <p:ext uri="{BB962C8B-B14F-4D97-AF65-F5344CB8AC3E}">
        <p14:creationId xmlns:p14="http://schemas.microsoft.com/office/powerpoint/2010/main" val="9801053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8C6C7250-EDF6-4864-9ABC-1B3B6C67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8A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1512B267-7D8F-499F-96EA-658E80EC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76ED24A6-958D-4608-9157-83987FC9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7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EL JUEGO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3F49542F-5205-4A51-96EF-A409DCAB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52475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No hay respuesta correcta</a:t>
            </a:r>
          </a:p>
        </p:txBody>
      </p:sp>
      <p:sp>
        <p:nvSpPr>
          <p:cNvPr id="5" name="Conector recto 4">
            <a:extLst xmlns:a="http://schemas.openxmlformats.org/drawingml/2006/main">
              <a:ext uri="{FF2B5EF4-FFF2-40B4-BE49-F238E27FC236}">
                <a16:creationId xmlns:a16="http://schemas.microsoft.com/office/drawing/2014/main" id="{A6FB1D4A-7658-407B-9AAF-63DFE635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38275"/>
            <a:ext cx="982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42055314-A466-44BB-A801-BCDB783A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90700"/>
            <a:ext cx="3181350" cy="3181350"/>
          </a:xfrm>
          <a:prstGeom xmlns:a="http://schemas.openxmlformats.org/drawingml/2006/main" prst="roundRect">
            <a:avLst>
              <a:gd name="adj" fmla="val 494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6" name="Imagen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6ed8abccec4aea"/>
          <a:stretch xmlns:a="http://schemas.openxmlformats.org/drawingml/2006/main"/>
        </p:blipFill>
        <p:spPr>
          <a:xfrm xmlns:a="http://schemas.openxmlformats.org/drawingml/2006/main">
            <a:off x="1047750" y="1809750"/>
            <a:ext cx="3143250" cy="3143250"/>
          </a:xfrm>
          <a:prstGeom xmlns:a="http://schemas.openxmlformats.org/drawingml/2006/main" prst="roundRect">
            <a:avLst>
              <a:gd name="adj" fmla="val 50000"/>
            </a:avLst>
          </a:prstGeom>
        </p:spPr>
      </p:pic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583A1E31-A0DC-474B-9EF8-3F9EF0D9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90700"/>
            <a:ext cx="3181350" cy="3181350"/>
          </a:xfrm>
          <a:prstGeom xmlns:a="http://schemas.openxmlformats.org/drawingml/2006/main" prst="roundRect">
            <a:avLst>
              <a:gd name="adj" fmla="val 494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8" name="Imagen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80de89b014ec8"/>
          <a:stretch xmlns:a="http://schemas.openxmlformats.org/drawingml/2006/main"/>
        </p:blipFill>
        <p:spPr>
          <a:xfrm xmlns:a="http://schemas.openxmlformats.org/drawingml/2006/main">
            <a:off x="8001000" y="1809750"/>
            <a:ext cx="3143250" cy="3143250"/>
          </a:xfrm>
          <a:prstGeom xmlns:a="http://schemas.openxmlformats.org/drawingml/2006/main" prst="roundRect">
            <a:avLst>
              <a:gd name="adj" fmla="val 50000"/>
            </a:avLst>
          </a:prstGeom>
        </p:spPr>
      </p:pic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C1C1A4BE-1D3D-41FB-BFAD-199439B4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81250"/>
            <a:ext cx="3124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COINCIDIR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43A1B271-10B4-4D73-9CF0-E35BBDFA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62275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45F"/>
                </a:solidFill>
                <a:latin typeface="Arial"/>
                <a:ea typeface="Arial"/>
                <a:cs typeface="Arial"/>
              </a:rPr>
              <a:t>con otra persona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9B5970DD-7E25-4099-B744-D59257BE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4167" y="3590925"/>
            <a:ext cx="2095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DA1A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+</a:t>
            </a:r>
            <a:r>
              <a:rPr sz="29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 premio</a:t>
            </a:r>
            <a:endParaRPr sz="2925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9225002D-81C5-4651-BBC0-79CA1905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578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La coordinación convierte una intuición en una convención observable.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DB3BA33-52FB-459B-B0EA-8477E1E4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337E974A-C18B-41E2-AFD9-E2182907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68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86868"/>
                </a:solidFill>
                <a:latin typeface="Arial"/>
                <a:ea typeface="Arial"/>
                <a:cs typeface="Arial"/>
              </a:rPr>
              <a:t>© 2026 Antonio Alfonso Costillo · aalfonso@us.es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D04A6010-CF71-45A4-BF91-E8879CC9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151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166606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2880E56B-A7ED-4E37-B336-636E8DAA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8A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E11A771-48FE-4705-B16C-3AEA9ADD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2D95C974-16FF-4507-A8BC-2111672A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7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PRIVACIDAD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06C8C847-2ED6-40AF-BBB9-F6ED845B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52475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Si puedo encontrarte, no eres anónimo</a:t>
            </a:r>
          </a:p>
        </p:txBody>
      </p:sp>
      <p:sp>
        <p:nvSpPr>
          <p:cNvPr id="5" name="Conector recto 4">
            <a:extLst xmlns:a="http://schemas.openxmlformats.org/drawingml/2006/main">
              <a:ext uri="{FF2B5EF4-FFF2-40B4-BE49-F238E27FC236}">
                <a16:creationId xmlns:a16="http://schemas.microsoft.com/office/drawing/2014/main" id="{CF24AA57-0FFC-4A90-A393-058082E5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38275"/>
            <a:ext cx="982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EFC4B75D-4881-454F-90FA-53A5638B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76425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8A3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F7CA6C0-C6CF-439C-B139-C58527A3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ANÓNIMO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5DE09B5E-1FE9-4F42-B60E-2494FF17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3105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No existe una vía razonable de reidentificación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C85A36FB-0155-4810-AFDE-82065155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7A8379A2-0EB1-486D-AFA9-D7D06862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76425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A1A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EF3FAD7C-EA07-4E44-B1FF-E068855D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8130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SEUDÓNIMO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D06F6D10-2EE1-47F6-8871-71F862DC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86125"/>
            <a:ext cx="3105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Existe información adicional. Sigue siendo dato personal</a:t>
            </a:r>
          </a:p>
        </p:txBody>
      </p:sp>
      <p:sp>
        <p:nvSpPr>
          <p:cNvPr id="13" name="Conector recto 12">
            <a:extLst xmlns:a="http://schemas.openxmlformats.org/drawingml/2006/main">
              <a:ext uri="{FF2B5EF4-FFF2-40B4-BE49-F238E27FC236}">
                <a16:creationId xmlns:a16="http://schemas.microsoft.com/office/drawing/2014/main" id="{37F1B610-8A66-440E-8DFB-D275ED25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386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C4CE0D5E-9856-4D4B-99C5-F9D4D80D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76425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8A3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CEC4124E-E696-46FB-858C-1F20E281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8130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k-ANONIMATO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07D37476-B732-4203-B55A-39310678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86125"/>
            <a:ext cx="3105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Cada patrón reúne, como mínimo, a k personas</a:t>
            </a:r>
          </a:p>
        </p:txBody>
      </p:sp>
      <p:sp>
        <p:nvSpPr>
          <p:cNvPr id="17" name="Conector recto 16">
            <a:extLst xmlns:a="http://schemas.openxmlformats.org/drawingml/2006/main">
              <a:ext uri="{FF2B5EF4-FFF2-40B4-BE49-F238E27FC236}">
                <a16:creationId xmlns:a16="http://schemas.microsoft.com/office/drawing/2014/main" id="{659AF012-B7B8-4602-A3ED-29260134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386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92540C1F-A555-4B57-881C-DBDF7F17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720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02020"/>
                </a:solidFill>
                <a:latin typeface="Consolas"/>
                <a:ea typeface="Consolas"/>
                <a:cs typeface="Consolas"/>
              </a:defRPr>
            </a:pPr>
            <a:r>
              <a:rPr sz="2550" b="1">
                <a:solidFill>
                  <a:srgbClr val="202020"/>
                </a:solidFill>
                <a:latin typeface="Consolas"/>
                <a:ea typeface="Consolas"/>
                <a:cs typeface="Consolas"/>
              </a:rPr>
              <a:t>4827 · 4827 · 7712 · 1934</a:t>
            </a:r>
          </a:p>
        </p:txBody>
      </p:sp>
      <p:sp>
        <p:nvSpPr>
          <p:cNvPr id="19" name="Rectángulo: esquinas redondeadas 18">
            <a:extLst xmlns:a="http://schemas.openxmlformats.org/drawingml/2006/main">
              <a:ext uri="{FF2B5EF4-FFF2-40B4-BE49-F238E27FC236}">
                <a16:creationId xmlns:a16="http://schemas.microsoft.com/office/drawing/2014/main" id="{92170D56-0833-44A8-9793-29332E7B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52950"/>
            <a:ext cx="20193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DA1A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k = 1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0D61FE54-42B6-493E-992A-065BA56D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81625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Últimos 4 dígitos = fragmento real y enlazable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2CB8969B-BF52-42DF-B7A3-60A4F33E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48350"/>
            <a:ext cx="925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Mejor: token aleatorio; la llave la conserva el estudiante</a:t>
            </a:r>
          </a:p>
        </p:txBody>
      </p:sp>
      <p:sp>
        <p:nvSpPr>
          <p:cNvPr id="22" name="Conector recto 21">
            <a:extLst xmlns:a="http://schemas.openxmlformats.org/drawingml/2006/main">
              <a:ext uri="{FF2B5EF4-FFF2-40B4-BE49-F238E27FC236}">
                <a16:creationId xmlns:a16="http://schemas.microsoft.com/office/drawing/2014/main" id="{96946136-0346-4D49-9D5A-7246919F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9436090A-24D3-44B4-8B45-44A98EE1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68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86868"/>
                </a:solidFill>
                <a:latin typeface="Arial"/>
                <a:ea typeface="Arial"/>
                <a:cs typeface="Arial"/>
              </a:rPr>
              <a:t>© 2026 Antonio Alfonso Costillo · aalfonso@us.es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29F39A7A-2894-47A8-A321-D96192D3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151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942302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DA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A21EE2F2-6DE0-4C3F-84F8-EE212242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8A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CA334E6-E1CB-4362-A384-117CFD08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B6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03B6F"/>
                </a:solidFill>
                <a:latin typeface="Arial"/>
                <a:ea typeface="Arial"/>
                <a:cs typeface="Arial"/>
              </a:rPr>
              <a:t>ANTONIO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003B6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03B6F"/>
                </a:solidFill>
                <a:latin typeface="Arial"/>
                <a:ea typeface="Arial"/>
                <a:cs typeface="Arial"/>
              </a:rPr>
              <a:t>ALFONSO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82DA3B2F-C213-4617-92CB-0CFB358F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5857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ARQUITECTURA DE DATOS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EN PYTHON Y CIENCIA ABIERTA</a:t>
            </a:r>
          </a:p>
        </p:txBody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A3803191-EA7C-4594-9CAB-3B76D442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20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75AC7B2-899F-47AC-91AC-18172F50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590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No aprenderemos a memorizar sintaxis.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Aprenderemos a leer, ejecutar y auditar.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5FAC07D2-37AD-4970-A248-7E49544C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704850"/>
            <a:ext cx="4000500" cy="5000625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0058A3"/>
          </a:solidFill>
          <a:ln xmlns:a="http://schemas.openxmlformats.org/drawingml/2006/main" w="28575">
            <a:solidFill>
              <a:srgbClr val="2020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8D8CE283-5E31-4920-9AA0-194BD2FD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0668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DA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DA1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66E1FAA6-8F04-4C54-A616-E3714FE6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0668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PREGUNTA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BB56D7C4-4D51-4621-9DDA-DFBECC95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668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AB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69AA0743-27F4-42A4-B9F8-B3CDE5F2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907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DA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DA1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1EE6B8C4-1EB2-4F13-B70E-9A98BD79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907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EVIDENCIA</a:t>
            </a:r>
          </a:p>
        </p:txBody>
      </p:sp>
      <p:sp>
        <p:nvSpPr>
          <p:cNvPr id="12" name="Conector recto 11">
            <a:extLst xmlns:a="http://schemas.openxmlformats.org/drawingml/2006/main">
              <a:ext uri="{FF2B5EF4-FFF2-40B4-BE49-F238E27FC236}">
                <a16:creationId xmlns:a16="http://schemas.microsoft.com/office/drawing/2014/main" id="{DA108EF1-4748-4A5E-A665-F1D0DCE4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AB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98C094E3-3A70-45DB-8573-F3B69A73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146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DA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DA1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5F777AF8-D720-4858-85B5-3BB8738E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146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PROTOCOLO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23A9FFC1-6CE0-4BE6-8733-AF9BCF23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146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AB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476F5D4D-132D-41CB-BF9C-4899E89F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385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DA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DA1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4ABCEAD2-DA4C-46A3-902A-B3944436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38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DATO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03EDBAC6-720D-4B4D-A74D-158614E3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385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AB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D705B7D-AC0A-4DAF-8483-CB5E2991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624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DA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DA1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0A0F4470-B819-48F4-8ABA-21342410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62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CÓDIGO</a:t>
            </a:r>
          </a:p>
        </p:txBody>
      </p:sp>
      <p:sp>
        <p:nvSpPr>
          <p:cNvPr id="21" name="Conector recto 20">
            <a:extLst xmlns:a="http://schemas.openxmlformats.org/drawingml/2006/main">
              <a:ext uri="{FF2B5EF4-FFF2-40B4-BE49-F238E27FC236}">
                <a16:creationId xmlns:a16="http://schemas.microsoft.com/office/drawing/2014/main" id="{6E544DCC-0555-4205-8333-969E94AB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624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AB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C1F7EE2E-D2C3-4149-A695-6B15B439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863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DA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DA1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0583F693-2228-446E-9C9B-128A3DD3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863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DOI</a:t>
            </a:r>
          </a:p>
        </p:txBody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05CC4845-0DFB-2720-DA22-3B281365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934" y="5438774"/>
            <a:ext cx="260946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2060"/>
                </a:solidFill>
                <a:latin typeface="Arial"/>
                <a:ea typeface="Arial"/>
                <a:cs typeface="Arial"/>
              </a:rPr>
              <a:t>2 </a:t>
            </a:r>
            <a:r>
              <a:rPr sz="1575" b="0">
                <a:solidFill>
                  <a:srgbClr val="002060"/>
                </a:solidFill>
                <a:latin typeface="Arial"/>
                <a:ea typeface="Arial"/>
                <a:cs typeface="Arial"/>
              </a:rPr>
              <a:t>septiembre</a:t>
            </a:r>
            <a:r>
              <a:rPr sz="1575" b="0">
                <a:solidFill>
                  <a:srgbClr val="002060"/>
                </a:solidFill>
                <a:latin typeface="Arial"/>
                <a:ea typeface="Arial"/>
                <a:cs typeface="Arial"/>
              </a:rPr>
              <a:t> 2026 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103C5E-F319-459A-B8AE-D29C8F50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86868"/>
                </a:solidFill>
              </a:defRPr>
            </a:pPr>
            <a:r>
              <a:rPr sz="750">
                <a:solidFill>
                  <a:srgbClr val="686868"/>
                </a:solidFill>
              </a:rPr>
              <a:t>© 2026 Antonio Alfonso Costillo · aalfonso@us.es</a:t>
            </a:r>
          </a:p>
        </p:txBody>
      </p:sp>
    </p:spTree>
    <p:extLst>
      <p:ext uri="{BB962C8B-B14F-4D97-AF65-F5344CB8AC3E}">
        <p14:creationId xmlns:p14="http://schemas.microsoft.com/office/powerpoint/2010/main" val="96117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90E78B5-095C-4C27-8880-7BA6E2A2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8A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69D3CF14-D05B-4678-8868-0B4272B6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1446341-DF84-4C04-84AB-35169320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935" y="4191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HIPÓTESIS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FAB38AF4-C734-4139-A781-2A64F4BB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52475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PICO-D obliga a decidir</a:t>
            </a:r>
          </a:p>
        </p:txBody>
      </p:sp>
      <p:sp>
        <p:nvSpPr>
          <p:cNvPr id="5" name="Conector recto 4">
            <a:extLst xmlns:a="http://schemas.openxmlformats.org/drawingml/2006/main">
              <a:ext uri="{FF2B5EF4-FFF2-40B4-BE49-F238E27FC236}">
                <a16:creationId xmlns:a16="http://schemas.microsoft.com/office/drawing/2014/main" id="{F0678DA6-9958-41C5-B005-0A1CE46C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38275"/>
            <a:ext cx="982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E67BA9B5-948C-4D7B-8C61-5F522F2F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80010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8A3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8B60294-8DA0-4590-8025-C823CBEB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575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Población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971D7EF8-95E2-42E6-BBF2-ACB5D752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00425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Adultos con permiso</a:t>
            </a:r>
          </a:p>
        </p:txBody>
      </p:sp>
      <p:sp>
        <p:nvSpPr>
          <p:cNvPr id="9" name="Rectángulo: esquinas redondeadas 8">
            <a:extLst xmlns:a="http://schemas.openxmlformats.org/drawingml/2006/main">
              <a:ext uri="{FF2B5EF4-FFF2-40B4-BE49-F238E27FC236}">
                <a16:creationId xmlns:a16="http://schemas.microsoft.com/office/drawing/2014/main" id="{7DA64830-B755-4FC7-B09E-1E54797C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047875"/>
            <a:ext cx="80010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8A3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A7BE98EA-D126-459F-B123-E2F0D6C9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575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I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Exposición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FE68347E-5328-4CEC-9C23-E62F1871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400425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Naranja primero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90BA9974-3A1B-4EA0-8B81-57DFC184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47875"/>
            <a:ext cx="80010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8A3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89143912-C827-4180-B609-CE63A1A0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Comparación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4C5385F9-BBA8-4B4C-997F-9BF43DC8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00425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Plátano primero</a:t>
            </a:r>
          </a:p>
        </p:txBody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C2A98AC0-5622-4CAC-941E-9969879D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047875"/>
            <a:ext cx="80010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A1A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1BF89FEC-216D-4C8B-8167-9CF48314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575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O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ADF91276-3DF0-4D19-9AC5-E3E81EC3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400425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Velocidad inicial</a:t>
            </a:r>
          </a:p>
        </p:txBody>
      </p:sp>
      <p:sp>
        <p:nvSpPr>
          <p:cNvPr id="18" name="Rectángulo: esquinas redondeadas 17">
            <a:extLst xmlns:a="http://schemas.openxmlformats.org/drawingml/2006/main">
              <a:ext uri="{FF2B5EF4-FFF2-40B4-BE49-F238E27FC236}">
                <a16:creationId xmlns:a16="http://schemas.microsoft.com/office/drawing/2014/main" id="{72A7E6D3-D9E5-4CC4-A357-81D8776F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47875"/>
            <a:ext cx="80010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8A3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5D643382-E4A2-4F00-9D96-3384B4D3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575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Diseño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877FA2ED-B242-46CF-9D22-CA731172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00425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Asignación 1:1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24B4330-4F6D-4480-B399-144F8431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387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sz="225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Conector recto 21">
            <a:extLst xmlns:a="http://schemas.openxmlformats.org/drawingml/2006/main">
              <a:ext uri="{FF2B5EF4-FFF2-40B4-BE49-F238E27FC236}">
                <a16:creationId xmlns:a16="http://schemas.microsoft.com/office/drawing/2014/main" id="{64B476C4-5E10-4745-8186-B185AC90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1C8A2DB0-355A-46D9-A211-19D42039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68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86868"/>
                </a:solidFill>
                <a:latin typeface="Arial"/>
                <a:ea typeface="Arial"/>
                <a:cs typeface="Arial"/>
              </a:rPr>
              <a:t>© 2026 Antonio Alfonso Costillo · aalfonso@us.es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BF288C3E-5C8C-4AC4-87F7-805BEB3A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151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9" name="CuadroTexto 28">
            <a:extLst xmlns:a="http://schemas.openxmlformats.org/drawingml/2006/main">
              <a:ext uri="{FF2B5EF4-FFF2-40B4-BE49-F238E27FC236}">
                <a16:creationId xmlns:a16="http://schemas.microsoft.com/office/drawing/2014/main" id="{95079CEC-5193-6AFA-DC04-EB7AE524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-20597"/>
            <a:ext cx="609702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CuadroTexto 30">
            <a:extLst xmlns:a="http://schemas.openxmlformats.org/drawingml/2006/main">
              <a:ext uri="{FF2B5EF4-FFF2-40B4-BE49-F238E27FC236}">
                <a16:creationId xmlns:a16="http://schemas.microsoft.com/office/drawing/2014/main" id="{F15AA263-DF37-30E3-5F02-52DE6F58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067300"/>
            <a:ext cx="714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HIPÓTESIS</a:t>
            </a:r>
          </a:p>
          <a:p xmlns:a="http://schemas.openxmlformats.org/drawingml/2006/main">
            <a:pPr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La naranja primero recibirá una velocidad media mayor que el plátano primero.</a:t>
            </a:r>
          </a:p>
        </p:txBody>
      </p:sp>
      <p:sp>
        <p:nvSpPr>
          <p:cNvPr id="33" name="CuadroTexto 32">
            <a:extLst xmlns:a="http://schemas.openxmlformats.org/drawingml/2006/main">
              <a:ext uri="{FF2B5EF4-FFF2-40B4-BE49-F238E27FC236}">
                <a16:creationId xmlns:a16="http://schemas.microsoft.com/office/drawing/2014/main" id="{96D80C3E-812E-A7A6-9639-90C14844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305300"/>
            <a:ext cx="714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PREGUNTA</a:t>
            </a:r>
          </a:p>
          <a:p xmlns:a="http://schemas.openxmlformats.org/drawingml/2006/main">
            <a:pPr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Entre adultos con permiso, ¿cambia la velocidad asignada según el primer símbolo mostrado?</a:t>
            </a:r>
          </a:p>
        </p:txBody>
      </p:sp>
    </p:spTree>
    <p:extLst>
      <p:ext uri="{BB962C8B-B14F-4D97-AF65-F5344CB8AC3E}">
        <p14:creationId xmlns:p14="http://schemas.microsoft.com/office/powerpoint/2010/main" val="4122320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3B6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F09B39-7727-45E0-A0A3-EC989AA4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0734773-4A80-4D43-B154-1F62840A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DA1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DA1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EA6B2D73-A930-4F8C-BDE1-F115BE82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7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8E9F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8E9F8"/>
                </a:solidFill>
                <a:latin typeface="Arial"/>
                <a:ea typeface="Arial"/>
                <a:cs typeface="Arial"/>
              </a:rPr>
              <a:t>HIPÓTESIS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893A2E6A-3C38-4579-8AE3-DAE66BD8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52475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Una hipótesis útil puede fallar</a:t>
            </a:r>
          </a:p>
        </p:txBody>
      </p:sp>
      <p:sp>
        <p:nvSpPr>
          <p:cNvPr id="5" name="Conector recto 4">
            <a:extLst xmlns:a="http://schemas.openxmlformats.org/drawingml/2006/main">
              <a:ext uri="{FF2B5EF4-FFF2-40B4-BE49-F238E27FC236}">
                <a16:creationId xmlns:a16="http://schemas.microsoft.com/office/drawing/2014/main" id="{9EDDAAF8-F81B-4554-A60B-F1D4AEBD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38275"/>
            <a:ext cx="982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7E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5F3EE434-3A8C-4EB4-BB77-B6D80F81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FFDA1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DA1A"/>
                </a:solidFill>
                <a:latin typeface="Arial"/>
                <a:ea typeface="Arial"/>
                <a:cs typeface="Arial"/>
              </a:rPr>
              <a:t>H₀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5E07F9F9-51BC-46E2-9755-A05E33FE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15265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μₙ − μₚ ≤ 0</a:t>
            </a:r>
          </a:p>
        </p:txBody>
      </p:sp>
      <p:sp>
        <p:nvSpPr>
          <p:cNvPr id="8" name="Conector recto 7">
            <a:extLst xmlns:a="http://schemas.openxmlformats.org/drawingml/2006/main">
              <a:ext uri="{FF2B5EF4-FFF2-40B4-BE49-F238E27FC236}">
                <a16:creationId xmlns:a16="http://schemas.microsoft.com/office/drawing/2014/main" id="{A1A5AB80-793B-46A1-A0CA-BED68701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52775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7E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E061540-894E-4976-939D-B6AD7C9C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FFDA1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DA1A"/>
                </a:solidFill>
                <a:latin typeface="Arial"/>
                <a:ea typeface="Arial"/>
                <a:cs typeface="Arial"/>
              </a:rPr>
              <a:t>H₁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1BBBC86F-79AC-4159-B587-9DAA8935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56235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μₙ − μₚ &gt; 0</a:t>
            </a:r>
          </a:p>
        </p:txBody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AD4D81C9-4C9B-4340-AB64-97F1C332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38350"/>
            <a:ext cx="4048125" cy="2771775"/>
          </a:xfrm>
          <a:prstGeom xmlns:a="http://schemas.openxmlformats.org/drawingml/2006/main" prst="roundRect">
            <a:avLst>
              <a:gd name="adj" fmla="val 2749"/>
            </a:avLst>
          </a:prstGeom>
          <a:solidFill xmlns:a="http://schemas.openxmlformats.org/drawingml/2006/main">
            <a:srgbClr val="FFDA1A"/>
          </a:solidFill>
          <a:ln xmlns:a="http://schemas.openxmlformats.org/drawingml/2006/main" w="28575">
            <a:solidFill>
              <a:srgbClr val="2020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D67AA6AD-8738-4B87-A9CC-80BB9C4C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81250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6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3B6F"/>
                </a:solidFill>
                <a:latin typeface="Arial"/>
                <a:ea typeface="Arial"/>
                <a:cs typeface="Arial"/>
              </a:rPr>
              <a:t>LÍMITE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1EE00617-B2A4-4ECC-A399-7A25C84C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62275"/>
            <a:ext cx="320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Saliencia en esta tarea</a:t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≠</a:t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seguridad vial universal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6D958AF-24D9-439A-869C-5DDDC08E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700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Resultado primario: velocidad_primera_kmh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CBBC71E-2C61-4FAA-B474-7362F164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626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8E9F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E9F8"/>
                </a:solidFill>
                <a:latin typeface="Arial"/>
                <a:ea typeface="Arial"/>
                <a:cs typeface="Arial"/>
              </a:rPr>
              <a:t>α = 0,05 · Welch unilateral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22E069-A016-4B70-B213-9EB7EDB6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86868"/>
                </a:solidFill>
              </a:defRPr>
            </a:pPr>
            <a:r>
              <a:rPr sz="750">
                <a:solidFill>
                  <a:srgbClr val="686868"/>
                </a:solidFill>
              </a:rPr>
              <a:t>© 2026 Antonio Alfonso Costillo · aalfonso@us.es</a:t>
            </a:r>
          </a:p>
        </p:txBody>
      </p:sp>
    </p:spTree>
    <p:extLst>
      <p:ext uri="{BB962C8B-B14F-4D97-AF65-F5344CB8AC3E}">
        <p14:creationId xmlns:p14="http://schemas.microsoft.com/office/powerpoint/2010/main" val="19426838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D7E5379D-E7C9-4DF4-951C-DF6AA915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8A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8AA8BC3F-F30B-40A6-9AE1-56002422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931EAE93-5575-46CC-B730-A8F354AA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7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DISEÑO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474F7011-1191-4086-B81E-47A954BE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52475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La primera pantalla decide el contraste</a:t>
            </a:r>
          </a:p>
        </p:txBody>
      </p:sp>
      <p:sp>
        <p:nvSpPr>
          <p:cNvPr id="5" name="Conector recto 4">
            <a:extLst xmlns:a="http://schemas.openxmlformats.org/drawingml/2006/main">
              <a:ext uri="{FF2B5EF4-FFF2-40B4-BE49-F238E27FC236}">
                <a16:creationId xmlns:a16="http://schemas.microsoft.com/office/drawing/2014/main" id="{891F3EC1-AD81-46EC-8B99-7E86AB0F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38275"/>
            <a:ext cx="982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218E508-8CA7-4AB1-BDFB-80C848DD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28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ORDEN A</a:t>
            </a:r>
          </a:p>
        </p:txBody>
      </p:sp>
      <p:sp>
        <p:nvSpPr>
          <p:cNvPr id="7" name="Rectángulo: esquinas redondeadas 6">
            <a:extLst xmlns:a="http://schemas.openxmlformats.org/drawingml/2006/main">
              <a:ext uri="{FF2B5EF4-FFF2-40B4-BE49-F238E27FC236}">
                <a16:creationId xmlns:a16="http://schemas.microsoft.com/office/drawing/2014/main" id="{6B97D9DB-7647-41BC-9D59-012A7C70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133600" cy="213360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7" name="Imagen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f771e602944145"/>
          <a:stretch xmlns:a="http://schemas.openxmlformats.org/drawingml/2006/main"/>
        </p:blipFill>
        <p:spPr>
          <a:xfrm xmlns:a="http://schemas.openxmlformats.org/drawingml/2006/main">
            <a:off x="933450" y="228600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</p:spPr>
      </p:pic>
      <p:sp>
        <p:nvSpPr>
          <p:cNvPr id="9" name="Rectángulo: esquinas redondeadas 8">
            <a:extLst xmlns:a="http://schemas.openxmlformats.org/drawingml/2006/main">
              <a:ext uri="{FF2B5EF4-FFF2-40B4-BE49-F238E27FC236}">
                <a16:creationId xmlns:a16="http://schemas.microsoft.com/office/drawing/2014/main" id="{7D81A1FB-DB5E-4BD4-8D06-9FB02883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095500"/>
            <a:ext cx="666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A1A"/>
          </a:solidFill>
          <a:ln xmlns:a="http://schemas.openxmlformats.org/drawingml/2006/main" w="14288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1ª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2056CCA6-F9CD-4179-AD2B-34ACC7D6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8820763F-3967-4841-9F01-39473C09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76500"/>
            <a:ext cx="1714500" cy="1714500"/>
          </a:xfrm>
          <a:prstGeom xmlns:a="http://schemas.openxmlformats.org/drawingml/2006/main" prst="roundRect">
            <a:avLst>
              <a:gd name="adj" fmla="val 4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1" name="Imagen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44279248440d1"/>
          <a:stretch xmlns:a="http://schemas.openxmlformats.org/drawingml/2006/main"/>
        </p:blipFill>
        <p:spPr>
          <a:xfrm xmlns:a="http://schemas.openxmlformats.org/drawingml/2006/main">
            <a:off x="4343400" y="2495550"/>
            <a:ext cx="1676400" cy="1676400"/>
          </a:xfrm>
          <a:prstGeom xmlns:a="http://schemas.openxmlformats.org/drawingml/2006/main" prst="roundRect">
            <a:avLst>
              <a:gd name="adj" fmla="val 50000"/>
            </a:avLst>
          </a:prstGeom>
        </p:spPr>
      </p:pic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DBD4960F-C7E9-4FB6-9245-F4B55A57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28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ORDEN B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F055E752-C6C1-4482-9B73-AEF056EF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2133600" cy="213360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4" name="Imagen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44279248440d1"/>
          <a:stretch xmlns:a="http://schemas.openxmlformats.org/drawingml/2006/main"/>
        </p:blipFill>
        <p:spPr>
          <a:xfrm xmlns:a="http://schemas.openxmlformats.org/drawingml/2006/main">
            <a:off x="6800850" y="228600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</p:spPr>
      </p:pic>
      <p:sp>
        <p:nvSpPr>
          <p:cNvPr id="16" name="Rectángulo: esquinas redondeadas 15">
            <a:extLst xmlns:a="http://schemas.openxmlformats.org/drawingml/2006/main">
              <a:ext uri="{FF2B5EF4-FFF2-40B4-BE49-F238E27FC236}">
                <a16:creationId xmlns:a16="http://schemas.microsoft.com/office/drawing/2014/main" id="{BD963238-BE96-45DC-9BEB-62975B53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95500"/>
            <a:ext cx="666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A1A"/>
          </a:solidFill>
          <a:ln xmlns:a="http://schemas.openxmlformats.org/drawingml/2006/main" w="14288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1ª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EC40804B-B4C0-4F17-837B-2E3706CA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71800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Rectángulo: esquinas redondeadas 17">
            <a:extLst xmlns:a="http://schemas.openxmlformats.org/drawingml/2006/main">
              <a:ext uri="{FF2B5EF4-FFF2-40B4-BE49-F238E27FC236}">
                <a16:creationId xmlns:a16="http://schemas.microsoft.com/office/drawing/2014/main" id="{F0C29707-B7CA-46C9-8AEF-BC36689B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76500"/>
            <a:ext cx="1714500" cy="1714500"/>
          </a:xfrm>
          <a:prstGeom xmlns:a="http://schemas.openxmlformats.org/drawingml/2006/main" prst="roundRect">
            <a:avLst>
              <a:gd name="adj" fmla="val 4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8" name="Imagen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f771e602944145"/>
          <a:stretch xmlns:a="http://schemas.openxmlformats.org/drawingml/2006/main"/>
        </p:blipFill>
        <p:spPr>
          <a:xfrm xmlns:a="http://schemas.openxmlformats.org/drawingml/2006/main">
            <a:off x="10210800" y="2495550"/>
            <a:ext cx="1676400" cy="1676400"/>
          </a:xfrm>
          <a:prstGeom xmlns:a="http://schemas.openxmlformats.org/drawingml/2006/main" prst="roundRect">
            <a:avLst>
              <a:gd name="adj" fmla="val 50000"/>
            </a:avLst>
          </a:prstGeom>
        </p:spPr>
      </p:pic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FC38FD77-657D-48A4-876D-16385AD9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387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ENTRE SUJETOS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1295049D-7FED-4977-A1A4-4E961779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05425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Solo las primeras respuestas confirman. Las segundas describen anclaje y contraste.</a:t>
            </a:r>
          </a:p>
        </p:txBody>
      </p:sp>
      <p:sp>
        <p:nvSpPr>
          <p:cNvPr id="22" name="Conector recto 21">
            <a:extLst xmlns:a="http://schemas.openxmlformats.org/drawingml/2006/main">
              <a:ext uri="{FF2B5EF4-FFF2-40B4-BE49-F238E27FC236}">
                <a16:creationId xmlns:a16="http://schemas.microsoft.com/office/drawing/2014/main" id="{1D45D259-B6F4-4F09-A725-142F4A35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30D79126-7E9C-4A7B-AE10-47167E81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68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86868"/>
                </a:solidFill>
                <a:latin typeface="Arial"/>
                <a:ea typeface="Arial"/>
                <a:cs typeface="Arial"/>
              </a:rPr>
              <a:t>© 2026 Antonio Alfonso Costillo · aalfonso@us.es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90783B31-67B4-4817-9FA3-2821D7CA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151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2" name="CuadroTexto 11">
            <a:extLst xmlns:a="http://schemas.openxmlformats.org/drawingml/2006/main">
              <a:ext uri="{FF2B5EF4-FFF2-40B4-BE49-F238E27FC236}">
                <a16:creationId xmlns:a16="http://schemas.microsoft.com/office/drawing/2014/main" id="{C6781A48-E20E-8043-CDDF-EE2350FD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929" y="6060044"/>
            <a:ext cx="762524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lvl="0" indent="-342900">
              <a:buFont typeface="Arial"/>
              <a:buChar char="•"/>
            </a:pPr>
            <a:r>
              <a:rPr b="1"/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89199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9AF1ABCD-EF0A-4DE1-AE4B-E4E9DF5B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8A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8964D450-16C8-4503-8AAE-0BD9DC43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3E7993C7-CB7A-47A2-B8E6-946860F3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7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DISEÑO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8246FA2B-BF1D-4238-9ADA-EB085326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52475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Medir es cerrar puertas</a:t>
            </a:r>
          </a:p>
        </p:txBody>
      </p:sp>
      <p:sp>
        <p:nvSpPr>
          <p:cNvPr id="5" name="Conector recto 4">
            <a:extLst xmlns:a="http://schemas.openxmlformats.org/drawingml/2006/main">
              <a:ext uri="{FF2B5EF4-FFF2-40B4-BE49-F238E27FC236}">
                <a16:creationId xmlns:a16="http://schemas.microsoft.com/office/drawing/2014/main" id="{34C973FE-3877-40CE-90A4-B53A1D3D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38275"/>
            <a:ext cx="982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6F84509B-F6AF-45B6-8880-36B65FA1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33575"/>
            <a:ext cx="481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RESULTADO PRIMARIO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33F9D3CD-8797-4AFF-88E3-85CFC194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0275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velocidad_primera_kmh</a:t>
            </a:r>
          </a:p>
        </p:txBody>
      </p:sp>
      <p:sp>
        <p:nvSpPr>
          <p:cNvPr id="8" name="Conector recto 7">
            <a:extLst xmlns:a="http://schemas.openxmlformats.org/drawingml/2006/main">
              <a:ext uri="{FF2B5EF4-FFF2-40B4-BE49-F238E27FC236}">
                <a16:creationId xmlns:a16="http://schemas.microsoft.com/office/drawing/2014/main" id="{885A0E9D-32D9-4DB3-A30E-9074EBAF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7281CB2A-5EA8-45FE-AC07-D26CE37F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33575"/>
            <a:ext cx="481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ESCALA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46FAE6BE-3528-4140-92FD-D64CAE29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00275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30 · 50 · 70 · 90 · 110 · 130</a:t>
            </a:r>
          </a:p>
        </p:txBody>
      </p:sp>
      <p:sp>
        <p:nvSpPr>
          <p:cNvPr id="11" name="Conector recto 10">
            <a:extLst xmlns:a="http://schemas.openxmlformats.org/drawingml/2006/main">
              <a:ext uri="{FF2B5EF4-FFF2-40B4-BE49-F238E27FC236}">
                <a16:creationId xmlns:a16="http://schemas.microsoft.com/office/drawing/2014/main" id="{59D5AEF8-935C-4A37-98CF-BD0F1259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00350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8C8AA9F1-DAFF-4BFA-862D-AC03A71F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481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EXCLUSIÓN MECÁNICA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DCE328A-E56A-48AD-B72E-B19DEBDA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cualquier tiempo &lt; 2,0 s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BBCE7E7F-06D6-4622-87B6-621844CD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81475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1DC6229-ABA0-42C1-8AB9-EC46D154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14700"/>
            <a:ext cx="481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NO DECIDE LA HIPÓTESIS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7625016A-0428-4CCB-823C-EA0577E2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81400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confianza · segunda respuesta · texto</a:t>
            </a:r>
          </a:p>
        </p:txBody>
      </p:sp>
      <p:sp>
        <p:nvSpPr>
          <p:cNvPr id="17" name="Conector recto 16">
            <a:extLst xmlns:a="http://schemas.openxmlformats.org/drawingml/2006/main">
              <a:ext uri="{FF2B5EF4-FFF2-40B4-BE49-F238E27FC236}">
                <a16:creationId xmlns:a16="http://schemas.microsoft.com/office/drawing/2014/main" id="{77232463-21CF-465C-9EAA-B52F8FF6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81475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61CCFECB-A405-42D0-B50D-0C926680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24425"/>
            <a:ext cx="1040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Exactamente 2,00 s permanece.</a:t>
            </a:r>
          </a:p>
        </p:txBody>
      </p:sp>
      <p:sp>
        <p:nvSpPr>
          <p:cNvPr id="19" name="Conector recto 18">
            <a:extLst xmlns:a="http://schemas.openxmlformats.org/drawingml/2006/main">
              <a:ext uri="{FF2B5EF4-FFF2-40B4-BE49-F238E27FC236}">
                <a16:creationId xmlns:a16="http://schemas.microsoft.com/office/drawing/2014/main" id="{58903866-05FF-4FB7-A216-C5D29C39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455C36D1-DDF3-4949-96C3-57AB0D29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68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86868"/>
                </a:solidFill>
                <a:latin typeface="Arial"/>
                <a:ea typeface="Arial"/>
                <a:cs typeface="Arial"/>
              </a:rPr>
              <a:t>© 2026 Antonio Alfonso Costillo · aalfonso@us.es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533AA63-ECD6-4C4E-9F33-D134BDA8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151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4" name="CuadroTexto 23">
            <a:extLst xmlns:a="http://schemas.openxmlformats.org/drawingml/2006/main">
              <a:ext uri="{FF2B5EF4-FFF2-40B4-BE49-F238E27FC236}">
                <a16:creationId xmlns:a16="http://schemas.microsoft.com/office/drawing/2014/main" id="{5DC5B68F-A48C-79F5-8375-A2873018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684" y="19914"/>
            <a:ext cx="609702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128626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A5407FC0-0ADD-4C63-AEE6-B61AEA86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8A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CE965415-EBE9-4699-A1B2-0F37182E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A00A0D28-516B-445E-893E-34AA147C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7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LITERATURA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63971B7D-A54D-4743-9F02-0D208892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52475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Elicit localiza; nosotros verificamos</a:t>
            </a:r>
          </a:p>
        </p:txBody>
      </p:sp>
      <p:sp>
        <p:nvSpPr>
          <p:cNvPr id="5" name="Conector recto 4">
            <a:extLst xmlns:a="http://schemas.openxmlformats.org/drawingml/2006/main">
              <a:ext uri="{FF2B5EF4-FFF2-40B4-BE49-F238E27FC236}">
                <a16:creationId xmlns:a16="http://schemas.microsoft.com/office/drawing/2014/main" id="{E2E9E145-77D7-48DE-98B7-1C3ECB4A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38275"/>
            <a:ext cx="982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D70CD7B0-B20B-4E18-94FE-5A9D57B8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764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CONSULTA</a:t>
            </a:r>
          </a:p>
        </p:txBody>
      </p:sp>
      <p:sp>
        <p:nvSpPr>
          <p:cNvPr id="7" name="Rectángulo: esquinas redondeadas 6">
            <a:extLst xmlns:a="http://schemas.openxmlformats.org/drawingml/2006/main">
              <a:ext uri="{FF2B5EF4-FFF2-40B4-BE49-F238E27FC236}">
                <a16:creationId xmlns:a16="http://schemas.microsoft.com/office/drawing/2014/main" id="{F8A52FE9-EBB5-4432-9DB4-E0192835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05537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7F5EF"/>
          </a:solidFill>
          <a:ln xmlns:a="http://schemas.openxmlformats.org/drawingml/2006/main" w="19050">
            <a:solidFill>
              <a:srgbClr val="D9D7CF"/>
            </a:solidFill>
            <a:prstDash val="solid"/>
          </a:ln>
        </p:spPr>
        <p:txBody>
          <a:bodyPr xmlns:a="http://schemas.openxmlformats.org/drawingml/2006/main" wrap="square" lIns="171450" tIns="152400" rIns="171450" bIns="1143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Which studies measured whether people associate foods with “fast” or “slow”?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326B7A7A-FA22-4D10-AF0A-556D379D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6CFC20A-B283-44F3-9FEB-8131F76D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9092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DISEÑO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35804FC0-06C3-48BE-AAEB-0237E849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909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41F8D9E5-94DA-4CBF-8C74-9182B664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9092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LÍMITE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73A67329-E3AA-48AD-BBDD-DE3376C8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909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UBICACIÓN</a:t>
            </a:r>
          </a:p>
        </p:txBody>
      </p:sp>
      <p:sp>
        <p:nvSpPr>
          <p:cNvPr id="13" name="Conector recto 12">
            <a:extLst xmlns:a="http://schemas.openxmlformats.org/drawingml/2006/main">
              <a:ext uri="{FF2B5EF4-FFF2-40B4-BE49-F238E27FC236}">
                <a16:creationId xmlns:a16="http://schemas.microsoft.com/office/drawing/2014/main" id="{95919D45-DE3B-4E5B-B3A4-74F8A506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24325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20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088B581C-BF29-4F11-9005-5B5E8EE2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72025"/>
            <a:ext cx="8839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Una celda sin página es una pista, no una evidencia.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79B31E10-894B-41EF-A399-D4726C44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321F5FE2-8310-459E-979E-5190554E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68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86868"/>
                </a:solidFill>
                <a:latin typeface="Arial"/>
                <a:ea typeface="Arial"/>
                <a:cs typeface="Arial"/>
              </a:rPr>
              <a:t>© 2026 Antonio Alfonso Costillo · aalfonso@us.es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D3491CAB-D8D8-4E14-BAEB-FAC3364E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151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478468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593DBC20-692C-43A6-8297-F5B10B5C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8A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4F88286-8BE8-481C-98FB-A4A74CB7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327E5728-FE0E-463D-85B2-2C550B2D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7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LITERATURA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D49D6794-5948-4107-9BC0-EC29E3BE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52475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La literatura motiva; no responde</a:t>
            </a:r>
          </a:p>
        </p:txBody>
      </p:sp>
      <p:sp>
        <p:nvSpPr>
          <p:cNvPr id="5" name="Conector recto 4">
            <a:extLst xmlns:a="http://schemas.openxmlformats.org/drawingml/2006/main">
              <a:ext uri="{FF2B5EF4-FFF2-40B4-BE49-F238E27FC236}">
                <a16:creationId xmlns:a16="http://schemas.microsoft.com/office/drawing/2014/main" id="{D45051A0-0125-47A2-B85F-FBF71602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38275"/>
            <a:ext cx="982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14B802C-187A-4632-B3C4-8B8AA128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28825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75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54/81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63FA5E63-C19B-45A5-BBEF-B880547C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956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limón → rápido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A70C3AA-D3DB-436B-B98D-271BCF9E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028825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75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67/81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EBC3D759-B00E-4640-8544-09B1CF1C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8956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ciruela pasa → lenta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F5DBAA18-E61A-4669-971D-A89A0EDD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43100"/>
            <a:ext cx="3905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DA1A"/>
          </a:solidFill>
          <a:ln xmlns:a="http://schemas.openxmlformats.org/drawingml/2006/main" w="23813">
            <a:solidFill>
              <a:srgbClr val="2020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4514D1C5-6BA2-4EF9-A7CF-C9E5DEE8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574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6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3B6F"/>
                </a:solidFill>
                <a:latin typeface="Arial"/>
                <a:ea typeface="Arial"/>
                <a:cs typeface="Arial"/>
              </a:rPr>
              <a:t>NO ESTUDIA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EB6D029E-9247-4755-80FA-F4B9DF8E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2415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naranja vs. plátano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km/h · coordinación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seguridad vial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920C4F8-9913-4C3E-AC0D-F8E0F5C0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38700"/>
            <a:ext cx="7658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Antecedente ≠ resultado heredado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C14E9400-70B9-4831-AF50-B74B9FED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63042B9A-7887-400D-9054-05E8E00F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68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86868"/>
                </a:solidFill>
                <a:latin typeface="Arial"/>
                <a:ea typeface="Arial"/>
                <a:cs typeface="Arial"/>
              </a:rPr>
              <a:t>© 2026 Antonio Alfonso Costillo · aalfonso@us.es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721D117E-D202-4E9C-AEAC-614431DE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151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456599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6F42A336-D4EE-475F-818C-E4331FE7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8A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FA2E5A71-21A1-45FE-AA43-F0E1CA2C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FE9AC68-4341-430F-8CF5-09D4854C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7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RESEARCHRABBIT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5722B727-467D-498B-BAA4-CA3863DA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52475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Tres ramas. Una pregunta nueva.</a:t>
            </a:r>
          </a:p>
        </p:txBody>
      </p:sp>
      <p:sp>
        <p:nvSpPr>
          <p:cNvPr id="5" name="Conector recto 4">
            <a:extLst xmlns:a="http://schemas.openxmlformats.org/drawingml/2006/main">
              <a:ext uri="{FF2B5EF4-FFF2-40B4-BE49-F238E27FC236}">
                <a16:creationId xmlns:a16="http://schemas.microsoft.com/office/drawing/2014/main" id="{2921EEA3-7921-4558-A76B-C6DD64B6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38275"/>
            <a:ext cx="982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7A26CAFA-FD55-47A3-84FB-C74C7309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6753225" cy="4019550"/>
          </a:xfrm>
          <a:prstGeom xmlns:a="http://schemas.openxmlformats.org/drawingml/2006/main" prst="roundRect">
            <a:avLst>
              <a:gd name="adj" fmla="val 18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8" name="Imagen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fc42954cc4e21"/>
          <a:stretch xmlns:a="http://schemas.openxmlformats.org/drawingml/2006/main"/>
        </p:blipFill>
        <p:spPr>
          <a:xfrm xmlns:a="http://schemas.openxmlformats.org/drawingml/2006/main">
            <a:off x="781050" y="1872742"/>
            <a:ext cx="6715125" cy="3779266"/>
          </a:xfrm>
          <a:prstGeom xmlns:a="http://schemas.openxmlformats.org/drawingml/2006/main" prst="roundRect">
            <a:avLst>
              <a:gd name="adj" fmla="val 1914"/>
            </a:avLst>
          </a:prstGeom>
        </p:spPr>
      </p:pic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1012272E-8D9D-4198-9F79-50DDE4A1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1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DATO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327D986A-B35F-488F-98A0-5A40F029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Woods · Spence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9C859861-94EF-4C6D-814A-0752B31B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2417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178ADF1-EB9B-43A8-ABC0-33AB25F9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05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MECANISMO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C3D2E7A9-493B-4CFB-84B9-3A350ECC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575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Mehta et al.</a:t>
            </a:r>
          </a:p>
        </p:txBody>
      </p:sp>
      <p:sp>
        <p:nvSpPr>
          <p:cNvPr id="13" name="Conector recto 12">
            <a:extLst xmlns:a="http://schemas.openxmlformats.org/drawingml/2006/main">
              <a:ext uri="{FF2B5EF4-FFF2-40B4-BE49-F238E27FC236}">
                <a16:creationId xmlns:a16="http://schemas.microsoft.com/office/drawing/2014/main" id="{D7077F10-940E-4D67-8D96-6882DD71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4D08EBBE-ED97-42E2-9365-1E2BC5BB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29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LÍMITE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895F74B5-B7EC-47C5-A2DA-32E2A80E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815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Shinar et al.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F124C005-2EC3-4002-B0A8-C6BC369C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3911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Una arista </a:t>
            </a: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invita</a:t>
            </a: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 a leer. </a:t>
            </a:r>
            <a:br/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No </a:t>
            </a: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certifica</a:t>
            </a: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evidencia</a:t>
            </a: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7" name="Conector recto 16">
            <a:extLst xmlns:a="http://schemas.openxmlformats.org/drawingml/2006/main">
              <a:ext uri="{FF2B5EF4-FFF2-40B4-BE49-F238E27FC236}">
                <a16:creationId xmlns:a16="http://schemas.microsoft.com/office/drawing/2014/main" id="{DF0863B8-AC5B-44B3-906F-42441043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871E9EC2-FCF6-4A57-A3F1-BF432D5C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68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86868"/>
                </a:solidFill>
                <a:latin typeface="Arial"/>
                <a:ea typeface="Arial"/>
                <a:cs typeface="Arial"/>
              </a:rPr>
              <a:t>© 2026 Antonio Alfonso Costillo · aalfonso@us.es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0220B439-4D82-43C6-A64C-76515D7C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151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167534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3B6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E00FAB42-8137-4EE4-8AB0-E33DB04D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B439E72-69AC-452D-BB22-4249B114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DA1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DA1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0E94E1D-4CA6-4E85-A4F7-1D1A4BB7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7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8E9F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8E9F8"/>
                </a:solidFill>
                <a:latin typeface="Arial"/>
                <a:ea typeface="Arial"/>
                <a:cs typeface="Arial"/>
              </a:rPr>
              <a:t>PRERREGISTRO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9F4437BC-840F-4FAF-8E64-818CAAFF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52475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Congelar antes de observar</a:t>
            </a:r>
          </a:p>
        </p:txBody>
      </p:sp>
      <p:sp>
        <p:nvSpPr>
          <p:cNvPr id="5" name="Conector recto 4">
            <a:extLst xmlns:a="http://schemas.openxmlformats.org/drawingml/2006/main">
              <a:ext uri="{FF2B5EF4-FFF2-40B4-BE49-F238E27FC236}">
                <a16:creationId xmlns:a16="http://schemas.microsoft.com/office/drawing/2014/main" id="{760C502A-B10E-43EE-8AA1-2F314E5C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38275"/>
            <a:ext cx="982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7E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8095B5A4-34C1-4704-8A8A-4D249CCF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DA1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DA1A"/>
                </a:solidFill>
                <a:latin typeface="Arial"/>
                <a:ea typeface="Arial"/>
                <a:cs typeface="Arial"/>
              </a:rPr>
              <a:t>ANTES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8AC6598-A0D0-4162-BD6D-76D33ACD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hipótesis · N · exclusiones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· alfa · secundarios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3E46227-C3A7-43D1-9050-47CA0075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81300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100" b="1">
                <a:solidFill>
                  <a:srgbClr val="7CABD1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7CABD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6A2F7A87-8563-4C23-A98F-BDFA820E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47875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DA1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DA1A"/>
                </a:solidFill>
                <a:latin typeface="Arial"/>
                <a:ea typeface="Arial"/>
                <a:cs typeface="Arial"/>
              </a:rPr>
              <a:t>DESPUÉS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6737A4D2-4FD9-44C9-94B2-EDE2A68C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9560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dato · contraste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desviaciones visibles</a:t>
            </a:r>
          </a:p>
        </p:txBody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80EAA043-3D08-4313-8E23-A80BAE70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95825"/>
            <a:ext cx="4191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DA1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5CA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5CA9"/>
                </a:solidFill>
                <a:latin typeface="Arial"/>
                <a:ea typeface="Arial"/>
                <a:cs typeface="Arial"/>
              </a:rPr>
              <a:t>aspredicted.org</a:t>
            </a:r>
            <a:endParaRPr sz="315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894D866-3FC2-4031-B4EC-DF817556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848350"/>
            <a:ext cx="636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Una desviación se registra; no se borra.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FB9F4-C2AD-4606-9CB1-CB0E07C5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86868"/>
                </a:solidFill>
              </a:defRPr>
            </a:pPr>
            <a:r>
              <a:rPr sz="750">
                <a:solidFill>
                  <a:srgbClr val="686868"/>
                </a:solidFill>
              </a:rPr>
              <a:t>© 2026 Antonio Alfonso Costillo · aalfonso@us.es</a:t>
            </a:r>
          </a:p>
        </p:txBody>
      </p:sp>
    </p:spTree>
    <p:extLst>
      <p:ext uri="{BB962C8B-B14F-4D97-AF65-F5344CB8AC3E}">
        <p14:creationId xmlns:p14="http://schemas.microsoft.com/office/powerpoint/2010/main" val="20636572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D7B51B01-45C1-497C-88C6-12309E20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8A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A0D457D-7946-485C-AB55-EC3A8EE2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C43274-E117-42C0-B3DC-5371AECC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7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GOBIERNO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24C20331-1567-428F-8EEF-F9BF254D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52475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Tres contratos. Una sola promesa.</a:t>
            </a:r>
          </a:p>
        </p:txBody>
      </p:sp>
      <p:sp>
        <p:nvSpPr>
          <p:cNvPr id="5" name="Conector recto 4">
            <a:extLst xmlns:a="http://schemas.openxmlformats.org/drawingml/2006/main">
              <a:ext uri="{FF2B5EF4-FFF2-40B4-BE49-F238E27FC236}">
                <a16:creationId xmlns:a16="http://schemas.microsoft.com/office/drawing/2014/main" id="{D8D3851E-7E9A-426D-A7B4-B7F9A9C1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38275"/>
            <a:ext cx="982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D527A10D-4DC6-4049-AAAC-CB2482E8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90725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8A3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F97D62CD-952A-44F0-A4D9-630193E3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3105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PRERREGISTRO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37F6DEF4-BE5D-4C9A-B6A1-8AAF9D02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Qué analizamos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20FEBDF5-4F6D-4AAF-9A6C-97A48347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EA101ADD-852B-4368-81DF-10090E90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90725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A1A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BFB2CCE3-8B25-4E7F-AAD4-B15C0BDE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3105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ÉTICA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F75035CB-7105-417A-B1FC-C7376BC9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Qué podemos pedir</a:t>
            </a:r>
          </a:p>
        </p:txBody>
      </p:sp>
      <p:sp>
        <p:nvSpPr>
          <p:cNvPr id="13" name="Conector recto 12">
            <a:extLst xmlns:a="http://schemas.openxmlformats.org/drawingml/2006/main">
              <a:ext uri="{FF2B5EF4-FFF2-40B4-BE49-F238E27FC236}">
                <a16:creationId xmlns:a16="http://schemas.microsoft.com/office/drawing/2014/main" id="{FC39421F-8311-431B-9BF2-69E7540D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862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EF21B6DE-F866-44B1-BEC9-DF6E24C8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90725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8A3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73C75B7D-636E-441B-8924-F016D539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52750"/>
            <a:ext cx="3105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DMP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6C7A4E6F-6910-48C3-975D-6EBD669A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2425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Qué puede salir</a:t>
            </a:r>
          </a:p>
        </p:txBody>
      </p:sp>
      <p:sp>
        <p:nvSpPr>
          <p:cNvPr id="17" name="Conector recto 16">
            <a:extLst xmlns:a="http://schemas.openxmlformats.org/drawingml/2006/main">
              <a:ext uri="{FF2B5EF4-FFF2-40B4-BE49-F238E27FC236}">
                <a16:creationId xmlns:a16="http://schemas.microsoft.com/office/drawing/2014/main" id="{8DBF5E28-4641-4CD8-9FEB-AE18E1A3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862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ECC2BECC-8593-4B93-AA3D-5CB6AEB3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4347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respuesta_abierta · HMAC · bonificación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701065B6-AE26-467E-A8E1-56646787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4AC7D2DE-D7C1-4240-9A29-1D831761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68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86868"/>
                </a:solidFill>
                <a:latin typeface="Arial"/>
                <a:ea typeface="Arial"/>
                <a:cs typeface="Arial"/>
              </a:rPr>
              <a:t>© 2026 Antonio Alfonso Costillo · aalfonso@us.es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93D2B07F-441F-4705-A7CA-18D4DB97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151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362852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1B2BD689-4FCF-4345-BF20-A51D8814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8A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60235DDB-53A1-45E6-8E9E-3A9786EB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00CCCC6B-F68D-4497-A068-F50637ED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7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DATOS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DAD04AE1-8C7D-47FC-A939-BC12A842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52475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FAIR no significa «todo abierto»</a:t>
            </a:r>
          </a:p>
        </p:txBody>
      </p:sp>
      <p:sp>
        <p:nvSpPr>
          <p:cNvPr id="5" name="Conector recto 4">
            <a:extLst xmlns:a="http://schemas.openxmlformats.org/drawingml/2006/main">
              <a:ext uri="{FF2B5EF4-FFF2-40B4-BE49-F238E27FC236}">
                <a16:creationId xmlns:a16="http://schemas.microsoft.com/office/drawing/2014/main" id="{38764A33-BCCA-4DB0-9B49-E75662AD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38275"/>
            <a:ext cx="982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3074CEEC-FAD5-4222-A9DA-0D542097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5025"/>
            <a:ext cx="23812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BRUTA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80FA800F-AC75-4694-B788-2478440D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preservar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1B5C8A0A-9B10-4F26-A25D-D25049DC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219325"/>
            <a:ext cx="45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Rectángulo: esquinas redondeadas 8">
            <a:extLst xmlns:a="http://schemas.openxmlformats.org/drawingml/2006/main">
              <a:ext uri="{FF2B5EF4-FFF2-40B4-BE49-F238E27FC236}">
                <a16:creationId xmlns:a16="http://schemas.microsoft.com/office/drawing/2014/main" id="{24486B5A-7AB2-47F9-8368-00A1D75E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05025"/>
            <a:ext cx="23812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71920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RESTRINGIDA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05DF80AD-B068-44B1-8F74-FD8DED58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0003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proteger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8E8278C2-6DC0-4C4E-967C-721D3593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19325"/>
            <a:ext cx="45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A0A821FC-E6E0-47CE-83AC-8392953A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05025"/>
            <a:ext cx="23812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058A3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ANALÍTICA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C3EAF231-ADA8-46D2-BE2A-974DB108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03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transformar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7D29F2A4-4754-40F0-AAFC-9ADDF2FA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219325"/>
            <a:ext cx="45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3D1F97B7-6CA9-4579-B6BC-E0759C26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05025"/>
            <a:ext cx="23812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DA1A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PÚBLICA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B7D71645-C155-4A12-851D-F3322463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0003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reutilizar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92F69D8C-86FA-4703-8EA1-27C2A4D7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38600"/>
            <a:ext cx="994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IDS · tiempos exactos · texto abierto · pagos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A81E551A-9ED6-43FA-A3B0-6AD03CD9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629150"/>
            <a:ext cx="7696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permanecen fuera del depósito público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0E5E50CC-706B-47C4-A2BB-E3739462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514975"/>
            <a:ext cx="922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Encontrable · Accesible · Interoperable · Reutilizable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8EBC976C-FB92-49B4-AEF2-324FBCD4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70558742-DB4B-43B7-A153-6F226D6E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68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86868"/>
                </a:solidFill>
                <a:latin typeface="Arial"/>
                <a:ea typeface="Arial"/>
                <a:cs typeface="Arial"/>
              </a:rPr>
              <a:t>© 2026 Antonio Alfonso Costillo · aalfonso@us.es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5354B9A9-BD8C-472E-BBA9-09AB40E8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151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27" name="CuadroTexto 26">
            <a:extLst xmlns:a="http://schemas.openxmlformats.org/drawingml/2006/main">
              <a:ext uri="{FF2B5EF4-FFF2-40B4-BE49-F238E27FC236}">
                <a16:creationId xmlns:a16="http://schemas.microsoft.com/office/drawing/2014/main" id="{5E53F6D4-0A86-793C-97F1-66B0F405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-22741"/>
            <a:ext cx="796111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907366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B38C5840-3BFE-4AD3-A1FB-F50F6ACB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8A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56621ADE-6036-4384-899C-AEDCF2E6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30E40EB5-B45B-48EB-B127-FF854D4C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7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TRAZABILIDAD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821E7296-EC2F-4827-806D-4CEE6DA5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52475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Carpetas para el estado. Git para la historia.</a:t>
            </a:r>
          </a:p>
        </p:txBody>
      </p:sp>
      <p:sp>
        <p:nvSpPr>
          <p:cNvPr id="5" name="Conector recto 4">
            <a:extLst xmlns:a="http://schemas.openxmlformats.org/drawingml/2006/main">
              <a:ext uri="{FF2B5EF4-FFF2-40B4-BE49-F238E27FC236}">
                <a16:creationId xmlns:a16="http://schemas.microsoft.com/office/drawing/2014/main" id="{D4167309-3247-405D-8482-B719981A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38275"/>
            <a:ext cx="982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475925B6-8926-408E-9111-D4AD0330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4476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228600" tIns="209550" rIns="190500" bIns="1714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020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202020"/>
                </a:solidFill>
                <a:latin typeface="Consolas"/>
                <a:ea typeface="Consolas"/>
                <a:cs typeface="Consolas"/>
              </a:rPr>
              <a:t>PROYECTO/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202020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202020"/>
                </a:solidFill>
                <a:latin typeface="Consolas"/>
                <a:ea typeface="Consolas"/>
                <a:cs typeface="Consolas"/>
              </a:rPr>
              <a:t>├─ 01_literatura/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202020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202020"/>
                </a:solidFill>
                <a:latin typeface="Consolas"/>
                <a:ea typeface="Consolas"/>
                <a:cs typeface="Consolas"/>
              </a:rPr>
              <a:t>├─ 02_protocolo/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202020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202020"/>
                </a:solidFill>
                <a:latin typeface="Consolas"/>
                <a:ea typeface="Consolas"/>
                <a:cs typeface="Consolas"/>
              </a:rPr>
              <a:t>├─ 03_datos_raw/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202020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202020"/>
                </a:solidFill>
                <a:latin typeface="Consolas"/>
                <a:ea typeface="Consolas"/>
                <a:cs typeface="Consolas"/>
              </a:rPr>
              <a:t>├─ 04_datos_publicos/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202020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202020"/>
                </a:solidFill>
                <a:latin typeface="Consolas"/>
                <a:ea typeface="Consolas"/>
                <a:cs typeface="Consolas"/>
              </a:rPr>
              <a:t>├─ 05_analisis/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202020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202020"/>
                </a:solidFill>
                <a:latin typeface="Consolas"/>
                <a:ea typeface="Consolas"/>
                <a:cs typeface="Consolas"/>
              </a:rPr>
              <a:t>└─ 06_publicacion/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CF778152-A096-450C-B38F-C06CB16F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58A3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0058A3"/>
                </a:solidFill>
                <a:latin typeface="Consolas"/>
                <a:ea typeface="Consolas"/>
                <a:cs typeface="Consolas"/>
              </a:rPr>
              <a:t>git status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55E0674A-E6AD-4B57-A330-CD2819A5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58A3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0058A3"/>
                </a:solidFill>
                <a:latin typeface="Consolas"/>
                <a:ea typeface="Consolas"/>
                <a:cs typeface="Consolas"/>
              </a:rPr>
              <a:t>git diff --staged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0375D742-939B-427D-B933-B2DCBD25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86125"/>
            <a:ext cx="519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02020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202020"/>
                </a:solidFill>
                <a:latin typeface="Consolas"/>
                <a:ea typeface="Consolas"/>
                <a:cs typeface="Consolas"/>
              </a:rPr>
              <a:t>git commit -m "protocol: freeze rules"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567E2383-A7B0-49DB-9F55-82ED6480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00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58A3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0058A3"/>
                </a:solidFill>
                <a:latin typeface="Consolas"/>
                <a:ea typeface="Consolas"/>
                <a:cs typeface="Consolas"/>
              </a:rPr>
              <a:t>git tag prereg-v1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29EBEE9-5726-4BB4-B01F-D9DF0783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244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Un commit = una decisión</a:t>
            </a:r>
          </a:p>
        </p:txBody>
      </p:sp>
      <p:sp>
        <p:nvSpPr>
          <p:cNvPr id="12" name="Conector recto 11">
            <a:extLst xmlns:a="http://schemas.openxmlformats.org/drawingml/2006/main">
              <a:ext uri="{FF2B5EF4-FFF2-40B4-BE49-F238E27FC236}">
                <a16:creationId xmlns:a16="http://schemas.microsoft.com/office/drawing/2014/main" id="{D2559AC8-2739-41CD-BDA9-C87DF822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63B9646-7C26-4556-B007-38BCE92E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68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86868"/>
                </a:solidFill>
                <a:latin typeface="Arial"/>
                <a:ea typeface="Arial"/>
                <a:cs typeface="Arial"/>
              </a:rPr>
              <a:t>© 2026 Antonio Alfonso Costillo · aalfonso@us.es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3D4AB39A-93C9-471F-94F0-93B6782D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151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7" name="CuadroTexto 16">
            <a:extLst xmlns:a="http://schemas.openxmlformats.org/drawingml/2006/main">
              <a:ext uri="{FF2B5EF4-FFF2-40B4-BE49-F238E27FC236}">
                <a16:creationId xmlns:a16="http://schemas.microsoft.com/office/drawing/2014/main" id="{35E53226-8699-D97B-4C3D-CF31E610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9266" y="6463784"/>
            <a:ext cx="609702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5633589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uadroTexto 2">
            <a:extLst xmlns:a="http://schemas.openxmlformats.org/drawingml/2006/main">
              <a:ext uri="{FF2B5EF4-FFF2-40B4-BE49-F238E27FC236}">
                <a16:creationId xmlns:a16="http://schemas.microsoft.com/office/drawing/2014/main" id="{A4164D80-B6C3-F805-858C-1270CF67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429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22222"/>
                </a:solidFill>
              </a:defRPr>
            </a:pPr>
            <a:r>
              <a:rPr sz="2700" b="1">
                <a:solidFill>
                  <a:srgbClr val="222222"/>
                </a:solidFill>
              </a:rPr>
              <a:t>Mismos datos. Respuestas distintas.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D644B-AC7E-4B13-B3CD-7DD9079F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5CA9"/>
                </a:solidFill>
              </a:defRPr>
            </a:pPr>
            <a:r>
              <a:rPr sz="975" b="1">
                <a:solidFill>
                  <a:srgbClr val="005CA9"/>
                </a:solidFill>
              </a:rPr>
              <a:t>16 · FLEXIBILIDAD ANALÍTICA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DA384B-93E9-4448-B48A-639425BC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005CA9"/>
                </a:solidFill>
              </a:defRPr>
            </a:pPr>
            <a:r>
              <a:rPr sz="6150" b="1">
                <a:solidFill>
                  <a:srgbClr val="005CA9"/>
                </a:solidFill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11E93-7D42-4A52-AFFE-8B2DC5CD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38475"/>
            <a:ext cx="190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equipos</a:t>
            </a:r>
          </a:p>
          <a:p xmlns:a="http://schemas.openxmlformats.org/drawingml/2006/main">
            <a:pPr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una base</a:t>
            </a:r>
          </a:p>
          <a:p xmlns:a="http://schemas.openxmlformats.org/drawingml/2006/main">
            <a:pPr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una pregunta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48007-CB5B-47B8-A3DB-DDCAE73D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1907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6F3EC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MODELOS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Defendibles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CADBB-222C-4C7F-B623-267A5C8B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95500"/>
            <a:ext cx="21907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6F3EC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RESULTADOS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Diferentes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CE6EF-1A62-4C08-9E70-5CDDDF4C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95500"/>
            <a:ext cx="21907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6F3EC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DECISIONES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A menudo ocultas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56362-3DEB-4C39-988D-6B34CEA0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57750"/>
            <a:ext cx="790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5CA9"/>
                </a:solidFill>
              </a:defRPr>
            </a:pPr>
            <a:r>
              <a:rPr sz="1950" b="1">
                <a:solidFill>
                  <a:srgbClr val="005CA9"/>
                </a:solidFill>
              </a:rPr>
              <a:t>La trazabilidad conserva el dato y el camino analítico.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E21FF-B350-4456-8C20-1F677C6B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86868"/>
                </a:solidFill>
              </a:defRPr>
            </a:pPr>
            <a:r>
              <a:rPr sz="750">
                <a:solidFill>
                  <a:srgbClr val="686868"/>
                </a:solidFill>
              </a:rPr>
              <a:t>© 2026 Antonio Alfonso Costillo · aalfonso@us.es</a:t>
            </a:r>
          </a:p>
        </p:txBody>
      </p:sp>
    </p:spTree>
    <p:extLst>
      <p:ext uri="{BB962C8B-B14F-4D97-AF65-F5344CB8AC3E}">
        <p14:creationId xmlns:p14="http://schemas.microsoft.com/office/powerpoint/2010/main" val="22831132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5FCF0CD5-C76F-4FFD-B492-57400B1D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8A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D4FA0E2A-E357-4082-805D-8FDB7F6F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A3D6F80E-3BAE-4E3E-B13D-9D4017A7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7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INSTRUMENTO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2E27652E-B1AB-41C7-A00C-AC3D8290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52475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La web </a:t>
            </a:r>
            <a:r>
              <a:rPr sz="30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ejecuta</a:t>
            </a:r>
            <a:r>
              <a:rPr sz="30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 el </a:t>
            </a:r>
            <a:r>
              <a:rPr sz="30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protocolo</a:t>
            </a:r>
            <a:endParaRPr sz="30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Conector recto 4">
            <a:extLst xmlns:a="http://schemas.openxmlformats.org/drawingml/2006/main">
              <a:ext uri="{FF2B5EF4-FFF2-40B4-BE49-F238E27FC236}">
                <a16:creationId xmlns:a16="http://schemas.microsoft.com/office/drawing/2014/main" id="{1FB1A2E3-3DC3-422F-893A-3B114262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38275"/>
            <a:ext cx="982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7B6BDF1-47A7-4FFD-9626-28AD4A92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449580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6" name="Imagen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1b554f47e94032"/>
          <a:stretch xmlns:a="http://schemas.openxmlformats.org/drawingml/2006/main"/>
        </p:blipFill>
        <p:spPr>
          <a:xfrm xmlns:a="http://schemas.openxmlformats.org/drawingml/2006/main">
            <a:off x="857250" y="2508647"/>
            <a:ext cx="4457700" cy="2507456"/>
          </a:xfrm>
          <a:prstGeom xmlns:a="http://schemas.openxmlformats.org/drawingml/2006/main" prst="roundRect">
            <a:avLst>
              <a:gd name="adj" fmla="val 1951"/>
            </a:avLst>
          </a:prstGeom>
        </p:spPr>
      </p:pic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B33D9243-D51F-470E-8F1A-147D2E0F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90700"/>
            <a:ext cx="449580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8" name="Imagen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077a27f7054867"/>
          <a:stretch xmlns:a="http://schemas.openxmlformats.org/drawingml/2006/main"/>
        </p:blipFill>
        <p:spPr>
          <a:xfrm xmlns:a="http://schemas.openxmlformats.org/drawingml/2006/main">
            <a:off x="6877050" y="2508647"/>
            <a:ext cx="4457700" cy="2507456"/>
          </a:xfrm>
          <a:prstGeom xmlns:a="http://schemas.openxmlformats.org/drawingml/2006/main" prst="roundRect">
            <a:avLst>
              <a:gd name="adj" fmla="val 1951"/>
            </a:avLst>
          </a:prstGeom>
        </p:spPr>
      </p:pic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8043E005-1266-4955-AA30-FE8D1758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A1A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D7FB4D19-3799-4949-BDB2-5C2CDE94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431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8A3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A2F36AC1-D0F7-48A2-8C0E-B80EBA49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8483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Consentimiento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53C132AF-82A9-4FE1-A5FB-144C36E4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8483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Orden persistente · guardado atómico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414E602D-FDC8-4089-993C-05161394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AF02963-8E7D-437F-B323-5518ED8D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68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86868"/>
                </a:solidFill>
                <a:latin typeface="Arial"/>
                <a:ea typeface="Arial"/>
                <a:cs typeface="Arial"/>
              </a:rPr>
              <a:t>© 2026 Antonio Alfonso Costillo · aalfonso@us.es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63F56A92-A931-4445-A502-2B93BD5A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151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247150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2C652747-7ACB-4D33-80D7-1E636B03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8A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D4BCF754-ACD1-47A7-BB22-97F1D613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4687C141-7BB2-463F-8573-942A85BC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7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MUESTRA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6CA8A050-ED55-464F-846C-533AA488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52475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Prolific permanece en borrador</a:t>
            </a:r>
          </a:p>
        </p:txBody>
      </p:sp>
      <p:sp>
        <p:nvSpPr>
          <p:cNvPr id="5" name="Conector recto 4">
            <a:extLst xmlns:a="http://schemas.openxmlformats.org/drawingml/2006/main">
              <a:ext uri="{FF2B5EF4-FFF2-40B4-BE49-F238E27FC236}">
                <a16:creationId xmlns:a16="http://schemas.microsoft.com/office/drawing/2014/main" id="{DA292DFB-59A7-4434-BA48-F04C8E44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38275"/>
            <a:ext cx="982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16C56C9C-9D0F-49FE-9ECD-D252CE00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"/>
            <a:ext cx="3810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71920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BORRADOR — NO PUBLICAR</a:t>
            </a:r>
          </a:p>
        </p:txBody>
      </p:sp>
      <p:sp>
        <p:nvSpPr>
          <p:cNvPr id="7" name="Rectángulo: esquinas redondeadas 6">
            <a:extLst xmlns:a="http://schemas.openxmlformats.org/drawingml/2006/main">
              <a:ext uri="{FF2B5EF4-FFF2-40B4-BE49-F238E27FC236}">
                <a16:creationId xmlns:a16="http://schemas.microsoft.com/office/drawing/2014/main" id="{0F4F369A-17B7-460B-8A9B-030EB548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233362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500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5A8025E9-B5EF-417F-B8B7-A812A41B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plazas</a:t>
            </a:r>
          </a:p>
        </p:txBody>
      </p:sp>
      <p:sp>
        <p:nvSpPr>
          <p:cNvPr id="9" name="Rectángulo: esquinas redondeadas 8">
            <a:extLst xmlns:a="http://schemas.openxmlformats.org/drawingml/2006/main">
              <a:ext uri="{FF2B5EF4-FFF2-40B4-BE49-F238E27FC236}">
                <a16:creationId xmlns:a16="http://schemas.microsoft.com/office/drawing/2014/main" id="{781288C3-9126-49ED-88DE-A8F2FB05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47875"/>
            <a:ext cx="233362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4 min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EE676B0C-04F6-452C-87E1-E820BD18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765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duración</a:t>
            </a:r>
          </a:p>
        </p:txBody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2F819A7D-963F-4889-8A1B-25387A3A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47875"/>
            <a:ext cx="233362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DA1A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£0.60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FFDB46EC-ABE0-402E-A45A-D2A6B82B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765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pago base</a:t>
            </a:r>
          </a:p>
        </p:txBody>
      </p:sp>
      <p:sp>
        <p:nvSpPr>
          <p:cNvPr id="13" name="Rectángulo: esquinas redondeadas 12">
            <a:extLst xmlns:a="http://schemas.openxmlformats.org/drawingml/2006/main">
              <a:ext uri="{FF2B5EF4-FFF2-40B4-BE49-F238E27FC236}">
                <a16:creationId xmlns:a16="http://schemas.microsoft.com/office/drawing/2014/main" id="{4E4DB7F9-DF2C-488F-B957-E22D91B9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47875"/>
            <a:ext cx="233362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18+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C43C9F17-E19D-43C3-A44C-22A82CF8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765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edad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402263C2-0582-497F-948B-22A4778F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95750"/>
            <a:ext cx="864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español fluido · ordenador · permiso vigente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A6838C29-33AF-4279-A244-4A7A7D40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673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El bono se añade. Nunca corrige un pago base insuficiente.</a:t>
            </a:r>
          </a:p>
        </p:txBody>
      </p:sp>
      <p:sp>
        <p:nvSpPr>
          <p:cNvPr id="17" name="Conector recto 16">
            <a:extLst xmlns:a="http://schemas.openxmlformats.org/drawingml/2006/main">
              <a:ext uri="{FF2B5EF4-FFF2-40B4-BE49-F238E27FC236}">
                <a16:creationId xmlns:a16="http://schemas.microsoft.com/office/drawing/2014/main" id="{DCCCEE60-821F-4A71-8420-793C499C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F51B2C51-BC96-4864-98A2-3226B3F8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68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86868"/>
                </a:solidFill>
                <a:latin typeface="Arial"/>
                <a:ea typeface="Arial"/>
                <a:cs typeface="Arial"/>
              </a:rPr>
              <a:t>© 2026 Antonio Alfonso Costillo · aalfonso@us.es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D1719765-0540-4A52-82DD-A9528DE4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151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22" name="CuadroTexto 21">
            <a:extLst xmlns:a="http://schemas.openxmlformats.org/drawingml/2006/main">
              <a:ext uri="{FF2B5EF4-FFF2-40B4-BE49-F238E27FC236}">
                <a16:creationId xmlns:a16="http://schemas.microsoft.com/office/drawing/2014/main" id="{D49C7696-A9AD-5BAC-4CA0-0F9C8767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9012" y="6145768"/>
            <a:ext cx="268950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https://www.prolific.com/</a:t>
            </a:r>
          </a:p>
        </p:txBody>
      </p:sp>
    </p:spTree>
    <p:extLst>
      <p:ext uri="{BB962C8B-B14F-4D97-AF65-F5344CB8AC3E}">
        <p14:creationId xmlns:p14="http://schemas.microsoft.com/office/powerpoint/2010/main" val="198846374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1D23339-309C-4C0F-B985-EBFC5608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8A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D220EA32-9B9F-4B43-9BB2-3D9E5E08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84CB3F67-BBB7-4DBF-851F-08F3DD5D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7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PANDAS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8480DF01-71DE-4216-A345-4C7F877E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52475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Antes de calcular, validamos</a:t>
            </a:r>
          </a:p>
        </p:txBody>
      </p:sp>
      <p:sp>
        <p:nvSpPr>
          <p:cNvPr id="5" name="Conector recto 4">
            <a:extLst xmlns:a="http://schemas.openxmlformats.org/drawingml/2006/main">
              <a:ext uri="{FF2B5EF4-FFF2-40B4-BE49-F238E27FC236}">
                <a16:creationId xmlns:a16="http://schemas.microsoft.com/office/drawing/2014/main" id="{A9F12756-5791-4EC6-BA59-E9192EE6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38275"/>
            <a:ext cx="982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2A6EF627-6D90-4438-85B4-A6D2A89D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0500"/>
            <a:ext cx="26860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DA1A"/>
          </a:solidFill>
          <a:ln xmlns:a="http://schemas.openxmlformats.org/drawingml/2006/main" w="14288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76200" tIns="28575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SIMULACIÓN DOCENTE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840932DA-1B3B-40A8-9367-7520B181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500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C1721AD-C64E-4926-BE39-9F79CC53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289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recibidas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616092D4-F1DA-4252-B67C-C3D5DBE6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5265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− 20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1273D9DE-83DA-4DF4-B2EF-2844D3DC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289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&lt; 2,0 s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C8A68821-24AB-4F7F-8745-D409FDEF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5265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2F6B4F"/>
                </a:solidFill>
                <a:latin typeface="Arial"/>
                <a:ea typeface="Arial"/>
                <a:cs typeface="Arial"/>
              </a:rPr>
              <a:t>= 480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BEB2ACC6-ADE5-4C2C-B6C6-05460851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289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válidas</a:t>
            </a:r>
          </a:p>
        </p:txBody>
      </p:sp>
      <p:sp>
        <p:nvSpPr>
          <p:cNvPr id="13" name="Conector recto 12">
            <a:extLst xmlns:a="http://schemas.openxmlformats.org/drawingml/2006/main">
              <a:ext uri="{FF2B5EF4-FFF2-40B4-BE49-F238E27FC236}">
                <a16:creationId xmlns:a16="http://schemas.microsoft.com/office/drawing/2014/main" id="{870245AC-4E36-4188-BF8A-4DCDB6D9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5747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020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E632DBB9-54E6-4586-BA90-0F8CA4C3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5747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020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C33E5A7B-8A78-4D0B-BA5E-519131B1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78486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7F5EF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02020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202020"/>
                </a:solidFill>
                <a:latin typeface="Consolas"/>
                <a:ea typeface="Consolas"/>
                <a:cs typeface="Consolas"/>
              </a:rPr>
              <a:t>df = df.loc[(t1 &gt;= 2.0) &amp; (t2 &gt;= 2.0)]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C9219C7E-B1A1-4796-9A23-3A1D0C19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292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2,00 permanece</a:t>
            </a:r>
          </a:p>
        </p:txBody>
      </p:sp>
      <p:sp>
        <p:nvSpPr>
          <p:cNvPr id="17" name="Conector recto 16">
            <a:extLst xmlns:a="http://schemas.openxmlformats.org/drawingml/2006/main">
              <a:ext uri="{FF2B5EF4-FFF2-40B4-BE49-F238E27FC236}">
                <a16:creationId xmlns:a16="http://schemas.microsoft.com/office/drawing/2014/main" id="{0D1B0495-296F-4182-86FA-AD7860D2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8C224DFC-F5BC-4079-9510-9BFF9D67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68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86868"/>
                </a:solidFill>
                <a:latin typeface="Arial"/>
                <a:ea typeface="Arial"/>
                <a:cs typeface="Arial"/>
              </a:rPr>
              <a:t>© 2026 Antonio Alfonso Costillo · aalfonso@us.es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5D7EF6B9-DA36-4DE1-8D71-3EE598A3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151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977493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2FF510FB-F7A6-43D0-A65B-CA5C70AB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8A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31B68C6F-5F4D-4D50-B26D-D62A1416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D6CE7037-0779-4F70-A6F6-962EBEE0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7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JUPYTER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D25FB892-3B54-43AE-BCDF-ECE55374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52475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Leer Python es </a:t>
            </a:r>
            <a:r>
              <a:rPr sz="31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seguir</a:t>
            </a:r>
            <a:r>
              <a:rPr sz="31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 </a:t>
            </a:r>
            <a:r>
              <a:rPr sz="31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una</a:t>
            </a:r>
            <a:r>
              <a:rPr sz="31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 </a:t>
            </a:r>
            <a:r>
              <a:rPr sz="31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tubería</a:t>
            </a:r>
            <a:endParaRPr sz="315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Conector recto 4">
            <a:extLst xmlns:a="http://schemas.openxmlformats.org/drawingml/2006/main">
              <a:ext uri="{FF2B5EF4-FFF2-40B4-BE49-F238E27FC236}">
                <a16:creationId xmlns:a16="http://schemas.microsoft.com/office/drawing/2014/main" id="{27A6073F-2480-4B48-BD4E-AF924C75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38275"/>
            <a:ext cx="982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04EEA0C6-6B31-4FB0-9669-471DA039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8A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1C05D611-8271-49FF-9107-6311AD55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383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CARGAR</a:t>
            </a:r>
          </a:p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D992AE4F-96D8-49E9-A917-EF192357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975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8A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83C6574-8FD1-48D3-864E-B6797C84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146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FILTRAR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FFAB5CB4-5A73-41B3-AFEE-808A3F51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24275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A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ECD61235-7CCC-4D98-9D1E-CA8D37D4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909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AGRUPAR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87753922-7FC2-4E98-A6D8-21A09574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00575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8A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8353B6F1-D666-4C68-8037-DED38701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672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MOSTRAR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EE756F85-34D8-4273-B617-3A988131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38325"/>
            <a:ext cx="676275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20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1" name="Imagen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7fbbc63a74a79"/>
          <a:stretch xmlns:a="http://schemas.openxmlformats.org/drawingml/2006/main"/>
        </p:blipFill>
        <p:spPr>
          <a:xfrm xmlns:a="http://schemas.openxmlformats.org/drawingml/2006/main">
            <a:off x="5081817" y="1857375"/>
            <a:ext cx="5590717" cy="3733800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24D5D00F-2294-412B-8411-E959FBB8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74357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Cambiar el color no cambia el dato.</a:t>
            </a:r>
          </a:p>
        </p:txBody>
      </p:sp>
      <p:sp>
        <p:nvSpPr>
          <p:cNvPr id="17" name="Conector recto 16">
            <a:extLst xmlns:a="http://schemas.openxmlformats.org/drawingml/2006/main">
              <a:ext uri="{FF2B5EF4-FFF2-40B4-BE49-F238E27FC236}">
                <a16:creationId xmlns:a16="http://schemas.microsoft.com/office/drawing/2014/main" id="{79621F0D-3CF7-414D-97DE-A9E18239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B7290AE6-4BC2-4216-AF5E-48F21A74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68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86868"/>
                </a:solidFill>
                <a:latin typeface="Arial"/>
                <a:ea typeface="Arial"/>
                <a:cs typeface="Arial"/>
              </a:rPr>
              <a:t>© 2026 Antonio Alfonso Costillo · aalfonso@us.es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DD600117-B89E-462B-AC1F-E8240CE4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151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21" name="CuadroTexto 20">
            <a:extLst xmlns:a="http://schemas.openxmlformats.org/drawingml/2006/main">
              <a:ext uri="{FF2B5EF4-FFF2-40B4-BE49-F238E27FC236}">
                <a16:creationId xmlns:a16="http://schemas.microsoft.com/office/drawing/2014/main" id="{76AC2076-73C1-FD30-5838-B351EF55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5CA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CA9"/>
                </a:solidFill>
                <a:latin typeface="Arial"/>
                <a:ea typeface="Arial"/>
                <a:cs typeface="Arial"/>
              </a:rPr>
              <a:t>Abrir en Binder · repositorio del curso</a:t>
            </a:r>
          </a:p>
        </p:txBody>
      </p:sp>
      <p:sp>
        <p:nvSpPr>
          <p:cNvPr id="23" name="CuadroTexto 22">
            <a:extLst xmlns:a="http://schemas.openxmlformats.org/drawingml/2006/main">
              <a:ext uri="{FF2B5EF4-FFF2-40B4-BE49-F238E27FC236}">
                <a16:creationId xmlns:a16="http://schemas.microsoft.com/office/drawing/2014/main" id="{57A841A3-579F-E0CA-A92B-D272E51C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578" y="425549"/>
            <a:ext cx="609702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CuadroTexto 24">
            <a:extLst xmlns:a="http://schemas.openxmlformats.org/drawingml/2006/main">
              <a:ext uri="{FF2B5EF4-FFF2-40B4-BE49-F238E27FC236}">
                <a16:creationId xmlns:a16="http://schemas.microsoft.com/office/drawing/2014/main" id="{15B090BA-C040-AD9D-A7FA-6550887B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83" y="20149"/>
            <a:ext cx="798847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880015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4C12D0FA-C864-4935-9A89-9774DE8F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8A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F1B20991-2870-464D-B27B-E34507AA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60A08A70-0AE0-46C3-A7AC-E6EAE189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7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270C552D-74A2-4A30-8653-C7EF5FCE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52475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La simulación cumple el guion</a:t>
            </a:r>
          </a:p>
        </p:txBody>
      </p:sp>
      <p:sp>
        <p:nvSpPr>
          <p:cNvPr id="5" name="Conector recto 4">
            <a:extLst xmlns:a="http://schemas.openxmlformats.org/drawingml/2006/main">
              <a:ext uri="{FF2B5EF4-FFF2-40B4-BE49-F238E27FC236}">
                <a16:creationId xmlns:a16="http://schemas.microsoft.com/office/drawing/2014/main" id="{AEE5CF74-8311-4C1A-89D3-F25B347A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38275"/>
            <a:ext cx="982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83E56D13-9C27-4D2F-B912-970022A2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0500"/>
            <a:ext cx="26860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DA1A"/>
          </a:solidFill>
          <a:ln xmlns:a="http://schemas.openxmlformats.org/drawingml/2006/main" w="14288">
            <a:solidFill>
              <a:srgbClr val="202020"/>
            </a:solidFill>
            <a:prstDash val="solid"/>
          </a:ln>
        </p:spPr>
        <p:txBody>
          <a:bodyPr xmlns:a="http://schemas.openxmlformats.org/drawingml/2006/main" wrap="square" lIns="76200" tIns="28575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SIMULACIÓN DOCENTE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781050" y="1962150"/>
          <a:ext xmlns:a="http://schemas.openxmlformats.org/drawingml/2006/main" cx="6572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d511ad81b7488a"/>
          </a:graphicData>
        </a:graphic>
      </p:graphicFrame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94ADFC-FE83-45CF-9392-A0FC2C65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47875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+20,58 km/h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30B08952-3940-4A0F-8EAC-1D916A79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241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IC 95 % 17,69–23,48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1578E334-1F36-41AA-9C43-6C0B42FD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623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 = 13,96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0A633CAC-1DAD-49D6-AA23-B54C3FDB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6235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 &lt; 0,001</a:t>
            </a:r>
          </a:p>
        </p:txBody>
      </p:sp>
      <p:sp>
        <p:nvSpPr>
          <p:cNvPr id="12" name="Conector recto 11">
            <a:extLst xmlns:a="http://schemas.openxmlformats.org/drawingml/2006/main">
              <a:ext uri="{FF2B5EF4-FFF2-40B4-BE49-F238E27FC236}">
                <a16:creationId xmlns:a16="http://schemas.microsoft.com/office/drawing/2014/main" id="{A71737F4-F41A-49C6-90AE-D1245A70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A7917C85-CDD2-4A78-9F63-90159C22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243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Coordinación Σp²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C7FB8B01-BA65-4AFC-8897-B020C1A4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244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0,377 naranja · 0,328 plátano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84E75535-229C-4D4E-AD96-B7685F7E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724525"/>
            <a:ext cx="377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Resultado sintético ≠ evidencia vial</a:t>
            </a:r>
          </a:p>
        </p:txBody>
      </p:sp>
      <p:sp>
        <p:nvSpPr>
          <p:cNvPr id="16" name="Conector recto 15">
            <a:extLst xmlns:a="http://schemas.openxmlformats.org/drawingml/2006/main">
              <a:ext uri="{FF2B5EF4-FFF2-40B4-BE49-F238E27FC236}">
                <a16:creationId xmlns:a16="http://schemas.microsoft.com/office/drawing/2014/main" id="{EE3C8266-502D-48EE-A4A3-BEBB7BEC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7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8D260BBB-83BF-4575-9815-FFAA93D7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68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86868"/>
                </a:solidFill>
                <a:latin typeface="Arial"/>
                <a:ea typeface="Arial"/>
                <a:cs typeface="Arial"/>
              </a:rPr>
              <a:t>© 2026 Antonio Alfonso Costillo · aalfonso@us.es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D0C751A-D095-4E33-96F8-44244D4C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151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58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8A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65336404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058A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0143DCE7-A555-4A57-8998-DE932297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13F3700-E870-4567-AAD4-619973C4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DA1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DA1A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7BFEEF60-9E8E-4B68-9AF1-F07CCFDC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7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8E9F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8E9F8"/>
                </a:solidFill>
                <a:latin typeface="Arial"/>
                <a:ea typeface="Arial"/>
                <a:cs typeface="Arial"/>
              </a:rPr>
              <a:t>PUBLICACIÓN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CD35D1B8-9BDA-4900-AA03-0A3F5C0B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52475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Versionar. Liberar. Citar.</a:t>
            </a:r>
          </a:p>
        </p:txBody>
      </p:sp>
      <p:sp>
        <p:nvSpPr>
          <p:cNvPr id="5" name="Conector recto 4">
            <a:extLst xmlns:a="http://schemas.openxmlformats.org/drawingml/2006/main">
              <a:ext uri="{FF2B5EF4-FFF2-40B4-BE49-F238E27FC236}">
                <a16:creationId xmlns:a16="http://schemas.microsoft.com/office/drawing/2014/main" id="{C833DE01-E2E5-418F-A081-92FB7E78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38275"/>
            <a:ext cx="982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7E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92C40BEB-96E7-475F-9D85-C8003297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85725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A1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03B6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3B6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3A378C34-4058-4579-AA2A-C0B18043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67075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75B41FC3-36F6-4FA5-BCEC-97439DFB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3714750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D8E9F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8E9F8"/>
                </a:solidFill>
                <a:latin typeface="Arial"/>
                <a:ea typeface="Arial"/>
                <a:cs typeface="Arial"/>
              </a:rPr>
              <a:t>historia local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DE2BEB6E-A26A-41FC-9087-6790BC69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266950"/>
            <a:ext cx="876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7CABD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7CABD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FA90BCBB-DB36-47ED-ADCC-7959997F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43125"/>
            <a:ext cx="85725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A1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03B6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3B6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40715E2B-F931-44BC-A7C9-4039E0BB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67075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237C1B48-7552-4E55-B8D7-536EA4F7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14750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D8E9F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8E9F8"/>
                </a:solidFill>
                <a:latin typeface="Arial"/>
                <a:ea typeface="Arial"/>
                <a:cs typeface="Arial"/>
              </a:rPr>
              <a:t>release v1.0.0-demo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2A18ECE6-64AE-49CD-A4E0-15AE60B6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266950"/>
            <a:ext cx="876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7CABD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7CABD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BA67287B-A6A4-475A-9D6F-BE9B5E0D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85725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A1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03B6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3B6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DFCC22ED-E9BC-4086-A274-C79D1AFE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67075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ZENODO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26DB39B1-482B-424D-8C3C-C1FBCBA9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14750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D8E9F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8E9F8"/>
                </a:solidFill>
                <a:latin typeface="Arial"/>
                <a:ea typeface="Arial"/>
                <a:cs typeface="Arial"/>
              </a:rPr>
              <a:t>Sandbox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8040733F-4823-41FD-AE2E-4AAD38AF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266950"/>
            <a:ext cx="876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7CABD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7CABD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Rectángulo: esquinas redondeadas 17">
            <a:extLst xmlns:a="http://schemas.openxmlformats.org/drawingml/2006/main">
              <a:ext uri="{FF2B5EF4-FFF2-40B4-BE49-F238E27FC236}">
                <a16:creationId xmlns:a16="http://schemas.microsoft.com/office/drawing/2014/main" id="{A8C6524A-2F43-455B-BDEA-0F29E034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43125"/>
            <a:ext cx="85725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A1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6D7C6A6D-A58B-4A5E-9FC9-421C2D06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67075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DOI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8A9E606C-AD18-47A1-B345-58DCD146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14750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D8E9F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8E9F8"/>
                </a:solidFill>
                <a:latin typeface="Arial"/>
                <a:ea typeface="Arial"/>
                <a:cs typeface="Arial"/>
              </a:rPr>
              <a:t>objeto citable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7FF764AA-98AB-4F34-8C8D-DF3E86E1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14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conocimiento no se archiva.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3070C98D-D111-4DF1-8F49-C1B7AD2C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7687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DA1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DA1A"/>
                </a:solidFill>
                <a:latin typeface="Arial"/>
                <a:ea typeface="Arial"/>
                <a:cs typeface="Arial"/>
              </a:rPr>
              <a:t>Se versiona, se ejecuta y se audita.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FD02C2D8-176F-4875-8778-5524D2B1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162675"/>
            <a:ext cx="678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 y Zenodo permanecen en demostración / Sandbox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4DA470-D920-4AFE-91B3-8D75AD09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86868"/>
                </a:solidFill>
              </a:defRPr>
            </a:pPr>
            <a:r>
              <a:rPr sz="750">
                <a:solidFill>
                  <a:srgbClr val="686868"/>
                </a:solidFill>
              </a:rPr>
              <a:t>© 2026 Antonio Alfonso Costillo · aalfonso@us.es</a:t>
            </a:r>
          </a:p>
        </p:txBody>
      </p:sp>
    </p:spTree>
    <p:extLst>
      <p:ext uri="{BB962C8B-B14F-4D97-AF65-F5344CB8AC3E}">
        <p14:creationId xmlns:p14="http://schemas.microsoft.com/office/powerpoint/2010/main" val="133284141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uadroTexto 2">
            <a:extLst xmlns:a="http://schemas.openxmlformats.org/drawingml/2006/main">
              <a:ext uri="{FF2B5EF4-FFF2-40B4-BE49-F238E27FC236}">
                <a16:creationId xmlns:a16="http://schemas.microsoft.com/office/drawing/2014/main" id="{548B0186-1E83-AACE-A2B4-2F72EEE7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706" y="552322"/>
            <a:ext cx="3292410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/>
            </a:r>
          </a:p>
        </p:txBody>
      </p:sp>
      <p:sp>
        <p:nvSpPr>
          <p:cNvPr id="5" name="CuadroTexto 4">
            <a:extLst xmlns:a="http://schemas.openxmlformats.org/drawingml/2006/main">
              <a:ext uri="{FF2B5EF4-FFF2-40B4-BE49-F238E27FC236}">
                <a16:creationId xmlns:a16="http://schemas.microsoft.com/office/drawing/2014/main" id="{C1CFCD55-2B0E-B9AE-07D4-36235E0C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92" y="4977312"/>
            <a:ext cx="4952488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/>
            </a:r>
          </a:p>
        </p:txBody>
      </p:sp>
      <p:pic>
        <p:nvPicPr>
          <p:cNvPr id="27" name="Gráfico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106ac2d404453">
            <a:extLst>
              <a:ext uri="{96DAC541-7B7A-43D3-8B79-37D633B846F1}">
                <asvg:svgBlip xmlns:asvg="http://schemas.microsoft.com/office/drawing/2016/SVG/main" r:embed="R0d21cc35dc10473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00200" y="1657350"/>
            <a:ext cx="2381250" cy="2000250"/>
          </a:xfrm>
          <a:prstGeom xmlns:a="http://schemas.openxmlformats.org/drawingml/2006/main" prst="rect">
            <a:avLst/>
          </a:prstGeom>
        </p:spPr>
      </p:pic>
      <p:pic>
        <p:nvPicPr>
          <p:cNvPr id="28" name="Gráfico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40fd5dc334148">
            <a:extLst>
              <a:ext uri="{96DAC541-7B7A-43D3-8B79-37D633B846F1}">
                <asvg:svgBlip xmlns:asvg="http://schemas.microsoft.com/office/drawing/2016/SVG/main" r:embed="Re61116cda1af44b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10550" y="1657350"/>
            <a:ext cx="2381250" cy="2000250"/>
          </a:xfrm>
          <a:prstGeom xmlns:a="http://schemas.openxmlformats.org/drawingml/2006/main" prst="rect">
            <a:avLst/>
          </a:prstGeom>
        </p:spPr>
      </p:pic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CCD20569-6F90-BE8A-9BB3-49338937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0F4CECFA-D8D5-C2B9-1FD7-5BBCEED0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29" y="4119210"/>
            <a:ext cx="857250" cy="93760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A1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03B6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3B6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1931CBFC-989D-CAC1-6847-4262E741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456" y="362396"/>
            <a:ext cx="857250" cy="93760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A1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03B6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3B6F"/>
                </a:solidFill>
                <a:latin typeface="Arial"/>
                <a:ea typeface="Arial"/>
                <a:cs typeface="Arial"/>
              </a:rPr>
              <a:t/>
            </a:r>
            <a:endParaRPr sz="3600" b="1">
              <a:solidFill>
                <a:srgbClr val="003B6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DF3B60-884B-4F7D-9087-B9D05AD0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22222"/>
                </a:solidFill>
              </a:defRPr>
            </a:pPr>
            <a:r>
              <a:rPr sz="2700" b="1">
                <a:solidFill>
                  <a:srgbClr val="222222"/>
                </a:solidFill>
              </a:rPr>
              <a:t>Dos fantasmas del análisis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C6379-BDE1-40C0-BF6B-B7A6E2FB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5CA9"/>
                </a:solidFill>
              </a:defRPr>
            </a:pPr>
            <a:r>
              <a:rPr sz="975" b="1">
                <a:solidFill>
                  <a:srgbClr val="005CA9"/>
                </a:solidFill>
              </a:rPr>
              <a:t>RESERVA · usar si surge la pregunta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60D03F-8806-485C-99DC-92B15270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F3EC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HARKing</a:t>
            </a:r>
          </a:p>
          <a:p xmlns:a="http://schemas.openxmlformats.org/drawingml/2006/main">
            <a:pPr algn="ctr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La hipótesis nace después del resultado y se relata como previa.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C99B18-31FA-4FAD-A5F4-EE5A1894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4335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F3EC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p-hacking</a:t>
            </a:r>
          </a:p>
          <a:p xmlns:a="http://schemas.openxmlformats.org/drawingml/2006/main">
            <a:pPr algn="ctr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Se prueban variantes hasta obtener p &lt; 0,05 y se oculta el recorrido.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DEE4EE-2ACA-4B30-9B97-9781CC19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86868"/>
                </a:solidFill>
              </a:defRPr>
            </a:pPr>
            <a:r>
              <a:rPr sz="750">
                <a:solidFill>
                  <a:srgbClr val="686868"/>
                </a:solidFill>
              </a:rPr>
              <a:t>© 2026 Antonio Alfonso Costillo · aalfonso@us.es</a:t>
            </a:r>
          </a:p>
        </p:txBody>
      </p:sp>
    </p:spTree>
    <p:extLst>
      <p:ext uri="{BB962C8B-B14F-4D97-AF65-F5344CB8AC3E}">
        <p14:creationId xmlns:p14="http://schemas.microsoft.com/office/powerpoint/2010/main" val="427491691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uadroTexto 2">
            <a:extLst xmlns:a="http://schemas.openxmlformats.org/drawingml/2006/main">
              <a:ext uri="{FF2B5EF4-FFF2-40B4-BE49-F238E27FC236}">
                <a16:creationId xmlns:a16="http://schemas.microsoft.com/office/drawing/2014/main" id="{7CDACDAD-1C8D-92F0-F0FE-ECD301CD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42950"/>
            <a:ext cx="985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22222"/>
                </a:solidFill>
              </a:defRPr>
            </a:pPr>
            <a:r>
              <a:rPr sz="2550" b="1">
                <a:solidFill>
                  <a:srgbClr val="222222"/>
                </a:solidFill>
              </a:rPr>
              <a:t>Un mensaje de seguridad produjo más accidentes</a:t>
            </a:r>
            <a:endParaRPr/>
          </a:p>
        </p:txBody>
      </p:sp>
      <p:sp>
        <p:nvSpPr>
          <p:cNvPr id="5" name="CuadroTexto 4">
            <a:extLst xmlns:a="http://schemas.openxmlformats.org/drawingml/2006/main">
              <a:ext uri="{FF2B5EF4-FFF2-40B4-BE49-F238E27FC236}">
                <a16:creationId xmlns:a16="http://schemas.microsoft.com/office/drawing/2014/main" id="{3B6E1147-3447-239E-7195-98372C8E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409700"/>
            <a:ext cx="57150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686868"/>
                </a:solidFill>
              </a:defRPr>
            </a:pPr>
            <a:r>
              <a:rPr sz="1350" b="1">
                <a:solidFill>
                  <a:srgbClr val="686868"/>
                </a:solidFill>
              </a:rPr>
              <a:t>Hall y Madsen · Science · 2022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D8570-2410-4D60-9C75-893313EA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5CA9"/>
                </a:solidFill>
              </a:defRPr>
            </a:pPr>
            <a:r>
              <a:rPr sz="975" b="1">
                <a:solidFill>
                  <a:srgbClr val="005CA9"/>
                </a:solidFill>
              </a:rPr>
              <a:t>RESERVA · ejemplo causal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EE06E-288E-4BD7-A8BA-7E2DCCD3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27241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6F3EC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880</a:t>
            </a:r>
          </a:p>
          <a:p xmlns:a="http://schemas.openxmlformats.org/drawingml/2006/main">
            <a:pPr algn="ctr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paneles analizados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14818-BCCB-44F0-AEE9-CA1EB5C1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90750"/>
            <a:ext cx="27241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6F3EC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+1,35%</a:t>
            </a:r>
          </a:p>
          <a:p xmlns:a="http://schemas.openxmlformats.org/drawingml/2006/main">
            <a:pPr algn="ctr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accidentes en semanas de campaña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068CD-FA31-4B97-A153-9B8890CA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27241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6F3EC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+4,5%</a:t>
            </a:r>
          </a:p>
          <a:p xmlns:a="http://schemas.openxmlformats.org/drawingml/2006/main">
            <a:pPr algn="ctr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estimación con exposición efectiva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685B7A-E45F-46F5-9FDB-A6A0EC07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291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5CA9"/>
                </a:solidFill>
              </a:defRPr>
            </a:pPr>
            <a:r>
              <a:rPr sz="2025" b="1">
                <a:solidFill>
                  <a:srgbClr val="005CA9"/>
                </a:solidFill>
              </a:rPr>
              <a:t>La atención capturada dejó de estar disponible para conducir.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0B4F3-1170-4359-B01E-B8463523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86868"/>
                </a:solidFill>
              </a:defRPr>
            </a:pPr>
            <a:r>
              <a:rPr sz="750">
                <a:solidFill>
                  <a:srgbClr val="686868"/>
                </a:solidFill>
              </a:rPr>
              <a:t>© 2026 Antonio Alfonso Costillo · aalfonso@us.es</a:t>
            </a:r>
          </a:p>
        </p:txBody>
      </p:sp>
    </p:spTree>
    <p:extLst>
      <p:ext uri="{BB962C8B-B14F-4D97-AF65-F5344CB8AC3E}">
        <p14:creationId xmlns:p14="http://schemas.microsoft.com/office/powerpoint/2010/main" val="11000747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2026-09-01T20:46:30.9670000Z</dcterms:created>
  <dcterms:modified xsi:type="dcterms:W3CDTF">2026-09-01T20:46:30.9670000Z</dcterms:modified>
</coreProperties>
</file>