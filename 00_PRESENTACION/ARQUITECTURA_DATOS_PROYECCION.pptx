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1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da9abfce7f45b1" /><Relationship Type="http://schemas.openxmlformats.org/officeDocument/2006/relationships/extended-properties" Target="/docProps/app.xml" Id="Red56dbf2d1114f09" /><Relationship Type="http://schemas.openxmlformats.org/officeDocument/2006/relationships/officeDocument" Target="/ppt/presentation.xml" Id="R944b8527235d4e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de290abd4546e9"/>
  </p:sldMasterIdLst>
  <p:notesMasterIdLst>
    <p:notesMasterId xmlns:r="http://schemas.openxmlformats.org/officeDocument/2006/relationships" r:id="R9c56ae99cfb9453d"/>
  </p:notesMasterIdLst>
  <p:sldIdLst>
    <p:sldId xmlns:r="http://schemas.openxmlformats.org/officeDocument/2006/relationships" id="256" r:id="R7b13fedf8cd94cc2"/>
    <p:sldId xmlns:r="http://schemas.openxmlformats.org/officeDocument/2006/relationships" id="257" r:id="Rb1f8de81e27b4d37"/>
    <p:sldId xmlns:r="http://schemas.openxmlformats.org/officeDocument/2006/relationships" id="258" r:id="Rb37eb73491ee4fd0"/>
    <p:sldId xmlns:r="http://schemas.openxmlformats.org/officeDocument/2006/relationships" id="259" r:id="R79d4404ae02f424e"/>
    <p:sldId xmlns:r="http://schemas.openxmlformats.org/officeDocument/2006/relationships" id="260" r:id="R91e66128ccb04a95"/>
    <p:sldId xmlns:r="http://schemas.openxmlformats.org/officeDocument/2006/relationships" id="261" r:id="Rb30b0cdd128843b2"/>
    <p:sldId xmlns:r="http://schemas.openxmlformats.org/officeDocument/2006/relationships" id="262" r:id="Rb351fcb45fee48cd"/>
    <p:sldId xmlns:r="http://schemas.openxmlformats.org/officeDocument/2006/relationships" id="263" r:id="R315c0e7ef2ee447e"/>
    <p:sldId xmlns:r="http://schemas.openxmlformats.org/officeDocument/2006/relationships" id="264" r:id="R787878e2324041a0"/>
    <p:sldId xmlns:r="http://schemas.openxmlformats.org/officeDocument/2006/relationships" id="265" r:id="R5c79608c34794f73"/>
    <p:sldId xmlns:r="http://schemas.openxmlformats.org/officeDocument/2006/relationships" id="266" r:id="R9ac840363430457e"/>
    <p:sldId xmlns:r="http://schemas.openxmlformats.org/officeDocument/2006/relationships" id="267" r:id="R485ddedc83fa4b51"/>
    <p:sldId xmlns:r="http://schemas.openxmlformats.org/officeDocument/2006/relationships" id="268" r:id="R62dc7d0df60b423a"/>
    <p:sldId xmlns:r="http://schemas.openxmlformats.org/officeDocument/2006/relationships" id="269" r:id="R19f6f950e23f4602"/>
    <p:sldId xmlns:r="http://schemas.openxmlformats.org/officeDocument/2006/relationships" id="270" r:id="Rc536967656024e35"/>
    <p:sldId xmlns:r="http://schemas.openxmlformats.org/officeDocument/2006/relationships" id="271" r:id="Reb33ef7024c24d25"/>
    <p:sldId xmlns:r="http://schemas.openxmlformats.org/officeDocument/2006/relationships" id="272" r:id="Re8a083582f40446a"/>
    <p:sldId xmlns:r="http://schemas.openxmlformats.org/officeDocument/2006/relationships" id="273" r:id="R09f1fdd2ccd84e65"/>
    <p:sldId xmlns:r="http://schemas.openxmlformats.org/officeDocument/2006/relationships" id="274" r:id="R683e65e1f79042d3"/>
    <p:sldId xmlns:r="http://schemas.openxmlformats.org/officeDocument/2006/relationships" id="275" r:id="Rd83ec0cc0df34d25"/>
    <p:sldId xmlns:r="http://schemas.openxmlformats.org/officeDocument/2006/relationships" id="276" r:id="Rbbbde829281042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f18bf5c65a45be" /><Relationship Type="http://schemas.openxmlformats.org/officeDocument/2006/relationships/slideMaster" Target="/ppt/slideMasters/slideMaster1.xml" Id="Rd1de290abd4546e9" /><Relationship Type="http://schemas.openxmlformats.org/officeDocument/2006/relationships/notesMaster" Target="/ppt/notesMasters/notesMaster1.xml" Id="R9c56ae99cfb9453d" /><Relationship Type="http://schemas.openxmlformats.org/officeDocument/2006/relationships/presProps" Target="/ppt/presProps.xml" Id="R7817958b3867458d" /><Relationship Type="http://schemas.openxmlformats.org/officeDocument/2006/relationships/tableStyles" Target="/ppt/tableStyles.xml" Id="R8e51736653814718" /><Relationship Type="http://schemas.openxmlformats.org/officeDocument/2006/relationships/slide" Target="/ppt/slides/slide1.xml" Id="R7b13fedf8cd94cc2" /><Relationship Type="http://schemas.openxmlformats.org/officeDocument/2006/relationships/slide" Target="/ppt/slides/slide2.xml" Id="Rb1f8de81e27b4d37" /><Relationship Type="http://schemas.openxmlformats.org/officeDocument/2006/relationships/slide" Target="/ppt/slides/slide3.xml" Id="Rb37eb73491ee4fd0" /><Relationship Type="http://schemas.openxmlformats.org/officeDocument/2006/relationships/slide" Target="/ppt/slides/slide4.xml" Id="R79d4404ae02f424e" /><Relationship Type="http://schemas.openxmlformats.org/officeDocument/2006/relationships/slide" Target="/ppt/slides/slide5.xml" Id="R91e66128ccb04a95" /><Relationship Type="http://schemas.openxmlformats.org/officeDocument/2006/relationships/slide" Target="/ppt/slides/slide6.xml" Id="Rb30b0cdd128843b2" /><Relationship Type="http://schemas.openxmlformats.org/officeDocument/2006/relationships/slide" Target="/ppt/slides/slide7.xml" Id="Rb351fcb45fee48cd" /><Relationship Type="http://schemas.openxmlformats.org/officeDocument/2006/relationships/slide" Target="/ppt/slides/slide8.xml" Id="R315c0e7ef2ee447e" /><Relationship Type="http://schemas.openxmlformats.org/officeDocument/2006/relationships/slide" Target="/ppt/slides/slide9.xml" Id="R787878e2324041a0" /><Relationship Type="http://schemas.openxmlformats.org/officeDocument/2006/relationships/slide" Target="/ppt/slides/slide10.xml" Id="R5c79608c34794f73" /><Relationship Type="http://schemas.openxmlformats.org/officeDocument/2006/relationships/slide" Target="/ppt/slides/slide11.xml" Id="R9ac840363430457e" /><Relationship Type="http://schemas.openxmlformats.org/officeDocument/2006/relationships/slide" Target="/ppt/slides/slide12.xml" Id="R485ddedc83fa4b51" /><Relationship Type="http://schemas.openxmlformats.org/officeDocument/2006/relationships/slide" Target="/ppt/slides/slide13.xml" Id="R62dc7d0df60b423a" /><Relationship Type="http://schemas.openxmlformats.org/officeDocument/2006/relationships/slide" Target="/ppt/slides/slide14.xml" Id="R19f6f950e23f4602" /><Relationship Type="http://schemas.openxmlformats.org/officeDocument/2006/relationships/slide" Target="/ppt/slides/slide15.xml" Id="Rc536967656024e35" /><Relationship Type="http://schemas.openxmlformats.org/officeDocument/2006/relationships/slide" Target="/ppt/slides/slide16.xml" Id="Reb33ef7024c24d25" /><Relationship Type="http://schemas.openxmlformats.org/officeDocument/2006/relationships/slide" Target="/ppt/slides/slide17.xml" Id="Re8a083582f40446a" /><Relationship Type="http://schemas.openxmlformats.org/officeDocument/2006/relationships/slide" Target="/ppt/slides/slide18.xml" Id="R09f1fdd2ccd84e65" /><Relationship Type="http://schemas.openxmlformats.org/officeDocument/2006/relationships/slide" Target="/ppt/slides/slide19.xml" Id="R683e65e1f79042d3" /><Relationship Type="http://schemas.openxmlformats.org/officeDocument/2006/relationships/slide" Target="/ppt/slides/slide20.xml" Id="Rd83ec0cc0df34d25" /><Relationship Type="http://schemas.openxmlformats.org/officeDocument/2006/relationships/slide" Target="/ppt/slides/slide21.xml" Id="Rbbbde829281042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43d8adb79d4b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79d0a8d75942cc" /><Relationship Type="http://schemas.openxmlformats.org/officeDocument/2006/relationships/notesMaster" Target="/ppt/notesMasters/notesMaster1.xml" Id="Raadbb4d476e349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fe68b953b84221" /><Relationship Type="http://schemas.openxmlformats.org/officeDocument/2006/relationships/notesMaster" Target="/ppt/notesMasters/notesMaster1.xml" Id="Raeceb1abf10846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d2575540cb49fc" /><Relationship Type="http://schemas.openxmlformats.org/officeDocument/2006/relationships/notesMaster" Target="/ppt/notesMasters/notesMaster1.xml" Id="R3fd0201d0b2044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8df98485524b50" /><Relationship Type="http://schemas.openxmlformats.org/officeDocument/2006/relationships/notesMaster" Target="/ppt/notesMasters/notesMaster1.xml" Id="R8ef9b847548f40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568d9926ec4d3c" /><Relationship Type="http://schemas.openxmlformats.org/officeDocument/2006/relationships/notesMaster" Target="/ppt/notesMasters/notesMaster1.xml" Id="Rb1b2ed3f44fc43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d377c19e7d4bd4" /><Relationship Type="http://schemas.openxmlformats.org/officeDocument/2006/relationships/notesMaster" Target="/ppt/notesMasters/notesMaster1.xml" Id="Rdeb6770fbdf145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97db038c9247b3" /><Relationship Type="http://schemas.openxmlformats.org/officeDocument/2006/relationships/notesMaster" Target="/ppt/notesMasters/notesMaster1.xml" Id="R14928d42f3c247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28af2873dc4cb5" /><Relationship Type="http://schemas.openxmlformats.org/officeDocument/2006/relationships/notesMaster" Target="/ppt/notesMasters/notesMaster1.xml" Id="R9784c804062848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37ac56c03d4b49" /><Relationship Type="http://schemas.openxmlformats.org/officeDocument/2006/relationships/notesMaster" Target="/ppt/notesMasters/notesMaster1.xml" Id="Rb0621335d5ce41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0b6fbc2a4e4333" /><Relationship Type="http://schemas.openxmlformats.org/officeDocument/2006/relationships/notesMaster" Target="/ppt/notesMasters/notesMaster1.xml" Id="R9849e89d3e36499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d7eae638eb49b8" /><Relationship Type="http://schemas.openxmlformats.org/officeDocument/2006/relationships/notesMaster" Target="/ppt/notesMasters/notesMaster1.xml" Id="R069ee45651ec498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6d157209a1487b" /><Relationship Type="http://schemas.openxmlformats.org/officeDocument/2006/relationships/notesMaster" Target="/ppt/notesMasters/notesMaster1.xml" Id="R238d9e232d47400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4ce2161d7584a32" /><Relationship Type="http://schemas.openxmlformats.org/officeDocument/2006/relationships/notesMaster" Target="/ppt/notesMasters/notesMaster1.xml" Id="R30bc67ff060340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6113d5b61674c1d" /><Relationship Type="http://schemas.openxmlformats.org/officeDocument/2006/relationships/notesMaster" Target="/ppt/notesMasters/notesMaster1.xml" Id="R359aeee65e734dd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3ff692022ab4c7f" /><Relationship Type="http://schemas.openxmlformats.org/officeDocument/2006/relationships/notesMaster" Target="/ppt/notesMasters/notesMaster1.xml" Id="Rf84955c878b1498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abc12e4a9ff4002" /><Relationship Type="http://schemas.openxmlformats.org/officeDocument/2006/relationships/notesMaster" Target="/ppt/notesMasters/notesMaster1.xml" Id="Rf7ed45f0737a496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f68f04e12694e8c" /><Relationship Type="http://schemas.openxmlformats.org/officeDocument/2006/relationships/notesMaster" Target="/ppt/notesMasters/notesMaster1.xml" Id="R109371b68b2141a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79a01f5f9d04de6" /><Relationship Type="http://schemas.openxmlformats.org/officeDocument/2006/relationships/notesMaster" Target="/ppt/notesMasters/notesMaster1.xml" Id="R0727031ccfc3408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26c65c6c12741ec" /><Relationship Type="http://schemas.openxmlformats.org/officeDocument/2006/relationships/notesMaster" Target="/ppt/notesMasters/notesMaster1.xml" Id="Rb0573b6eea7c406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a21fceb40504b95" /><Relationship Type="http://schemas.openxmlformats.org/officeDocument/2006/relationships/notesMaster" Target="/ppt/notesMasters/notesMaster1.xml" Id="R5f0e12cb8c064be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fb74fe317304c93" /><Relationship Type="http://schemas.openxmlformats.org/officeDocument/2006/relationships/notesMaster" Target="/ppt/notesMasters/notesMaster1.xml" Id="Rf82944d3072449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- 09_ASSETS/narrativa/originales_usuario/naranja_color_usuario.png</a:t>
            </a:r>
          </a:p>
          <a:p xmlns:a="http://schemas.openxmlformats.org/drawingml/2006/main">
            <a:r>
              <a:t>- 09_ASSETS/narrativa/originales_usuario/platano_color_usuario.png</a:t>
            </a:r>
          </a:p>
          <a:p xmlns:a="http://schemas.openxmlformats.org/drawingml/2006/main">
            <a:r>
              <a:t>- 09_ASSETS/narrativa/video/go_banana.mp4</a:t>
            </a:r>
          </a:p>
          <a:p xmlns:a="http://schemas.openxmlformats.org/drawingml/2006/main">
            <a:r>
              <a:t>- Vídeo alternativo: https://www.youtube.com/watch?v=YpsyM3I0h9k</a:t>
            </a:r>
          </a:p>
          <a:p xmlns:a="http://schemas.openxmlformats.org/drawingml/2006/main">
            <a:r>
              <a:t>- 00_GOBIERNO/BRIEF_CANONICO.md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- 02_PROTOCOLO/mecanismo_bonificacion.md</a:t>
            </a:r>
          </a:p>
          <a:p xmlns:a="http://schemas.openxmlformats.org/drawingml/2006/main">
            <a:r>
              <a:t>- 09_ASSETS/estimulos/senal_naranja.png</a:t>
            </a:r>
          </a:p>
          <a:p xmlns:a="http://schemas.openxmlformats.org/drawingml/2006/main">
            <a:r>
              <a:t>- 09_ASSETS/estimulos/senal_platano.png</a:t>
            </a:r>
          </a:p>
          <a:p xmlns:a="http://schemas.openxmlformats.org/drawingml/2006/main">
            <a:r>
              <a:t>- Mehta, Starmer y Sugden (1994): https://www.jstor.org/stable/2118074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RGPD, art. 4.5 y considerando 26: https://eur-lex.europa.eu/legal-content/ES/TXT/?uri=CELEX:32016R0679</a:t>
            </a:r>
          </a:p>
          <a:p xmlns:a="http://schemas.openxmlformats.org/drawingml/2006/main">
            <a:r>
              <a:t>- Grupo de Trabajo del Artículo 29, Dictamen 05/2014: https://ec.europa.eu/justice/article-29/documentation/opinion-recommendation/files/2014/wp216_en.pdf</a:t>
            </a:r>
          </a:p>
          <a:p xmlns:a="http://schemas.openxmlformats.org/drawingml/2006/main">
            <a:r>
              <a:t>- Sweeney (2002), k-Anonymity: https://doi.org/10.1142/S0218488502001648</a:t>
            </a:r>
          </a:p>
          <a:p xmlns:a="http://schemas.openxmlformats.org/drawingml/2006/main">
            <a:r>
              <a:t>- NISTIR 8053: https://doi.org/10.6028/NIST.IR.8053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- 00_GOBIERNO/BRIEF_CANONICO.md</a:t>
            </a:r>
          </a:p>
          <a:p xmlns:a="http://schemas.openxmlformats.org/drawingml/2006/main">
            <a:r>
              <a:t>- 00_GOBIERNO/GUION_CURRICULAR_180_MIN.md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- 02_PROTOCOLO/diseno_experimental.md</a:t>
            </a:r>
          </a:p>
          <a:p xmlns:a="http://schemas.openxmlformats.org/drawingml/2006/main">
            <a:r>
              <a:t>- 02_PROTOCOLO/prerregistro_osf_es.md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- 02_PROTOCOLO/diseno_experimental.md</a:t>
            </a:r>
          </a:p>
          <a:p xmlns:a="http://schemas.openxmlformats.org/drawingml/2006/main">
            <a:r>
              <a:t>- Shinar et al. (2003): https://doi.org/10.1080/0014013032000121615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- 02_PROTOCOLO/diseno_experimental.md</a:t>
            </a:r>
          </a:p>
          <a:p xmlns:a="http://schemas.openxmlformats.org/drawingml/2006/main">
            <a:r>
              <a:t>- 00_GOBIERNO/BRIEF_CANONICO.md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- 02_PROTOCOLO/prerregistro_osf_es.md</a:t>
            </a:r>
          </a:p>
          <a:p xmlns:a="http://schemas.openxmlformats.org/drawingml/2006/main">
            <a:r>
              <a:t>- 04_DATOS/metadata/CONTRATO_DATO.md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- 01_LITERATURA/GUIA_ELICIT_RESEARCHRABBIT.md</a:t>
            </a:r>
          </a:p>
          <a:p xmlns:a="http://schemas.openxmlformats.org/drawingml/2006/main">
            <a:r>
              <a:t>- https://elicit.com/</a:t>
            </a:r>
          </a:p>
          <a:p xmlns:a="http://schemas.openxmlformats.org/drawingml/2006/main">
            <a:r>
              <a:t>- 01_LITERATURA/literatura_verificada.csv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Woods et al. (2013): https://doi.org/10.1068/i0586</a:t>
            </a:r>
          </a:p>
          <a:p xmlns:a="http://schemas.openxmlformats.org/drawingml/2006/main">
            <a:r>
              <a:t>- Spence (2023): https://doi.org/10.1163/22134808-bja10096</a:t>
            </a:r>
          </a:p>
          <a:p xmlns:a="http://schemas.openxmlformats.org/drawingml/2006/main">
            <a:r>
              <a:t>- 01_LITERATURA/TABLA_EVIDENCIA_VERIFICADA.md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- 01_LITERATURA/GUIA_ELICIT_RESEARCHRABBIT.md</a:t>
            </a:r>
          </a:p>
          <a:p xmlns:a="http://schemas.openxmlformats.org/drawingml/2006/main">
            <a:r>
              <a:t>- https://www.researchrabbit.ai/</a:t>
            </a:r>
          </a:p>
          <a:p xmlns:a="http://schemas.openxmlformats.org/drawingml/2006/main">
            <a:r>
              <a:t>- 09_ASSETS/narrativa/reutilizadas/red_literatura.png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- 02_PROTOCOLO/prerregistro_osf_es.md</a:t>
            </a:r>
          </a:p>
          <a:p xmlns:a="http://schemas.openxmlformats.org/drawingml/2006/main">
            <a:r>
              <a:t>- https://help.osf.io/article/330-welcome-to-registrations</a:t>
            </a:r>
          </a:p>
          <a:p xmlns:a="http://schemas.openxmlformats.org/drawingml/2006/main">
            <a:r>
              <a:t>- 00_GOBIERNO/GUION_CURRICULAR_180_MIN.md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- 02_PROTOCOLO/prerregistro_osf_es.md</a:t>
            </a:r>
          </a:p>
          <a:p xmlns:a="http://schemas.openxmlformats.org/drawingml/2006/main">
            <a:r>
              <a:t>- 02_PROTOCOLO/ficha_etica_completa.md</a:t>
            </a:r>
          </a:p>
          <a:p xmlns:a="http://schemas.openxmlformats.org/drawingml/2006/main">
            <a:r>
              <a:t>- 02_PROTOCOLO/dmp_fair_completo.md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- 02_PROTOCOLO/dmp_fair_completo.md</a:t>
            </a:r>
          </a:p>
          <a:p xmlns:a="http://schemas.openxmlformats.org/drawingml/2006/main">
            <a:r>
              <a:t>- 04_DATOS/metadata/CONTRATO_DATO.md</a:t>
            </a:r>
          </a:p>
          <a:p xmlns:a="http://schemas.openxmlformats.org/drawingml/2006/main">
            <a:r>
              <a:t>- FAIR Principles: https://www.go-fair.org/fair-principles/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- 00_GOBIERNO/GUION_CURRICULAR_180_MIN.md</a:t>
            </a:r>
          </a:p>
          <a:p xmlns:a="http://schemas.openxmlformats.org/drawingml/2006/main">
            <a:r>
              <a:t>- https://git-scm.com/docs</a:t>
            </a:r>
          </a:p>
          <a:p xmlns:a="http://schemas.openxmlformats.org/drawingml/2006/main">
            <a:r>
              <a:t>- 04_DATOS/metadata/CONTRATO_DATO.md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- 03_MINIWEB/app.py</a:t>
            </a:r>
          </a:p>
          <a:p xmlns:a="http://schemas.openxmlformats.org/drawingml/2006/main">
            <a:r>
              <a:t>- 03_MINIWEB/README.md</a:t>
            </a:r>
          </a:p>
          <a:p xmlns:a="http://schemas.openxmlformats.org/drawingml/2006/main">
            <a:r>
              <a:t>- 06_PRESENTACIONES/activos/miniweb/01_mockup_consentimiento.png</a:t>
            </a:r>
          </a:p>
          <a:p xmlns:a="http://schemas.openxmlformats.org/drawingml/2006/main">
            <a:r>
              <a:t>- 06_PRESENTACIONES/activos/miniweb/02_mockup_primera_senal.png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- 02_PROTOCOLO/prolific_borrador.md</a:t>
            </a:r>
          </a:p>
          <a:p xmlns:a="http://schemas.openxmlformats.org/drawingml/2006/main">
            <a:r>
              <a:t>- https://researcher-help.prolific.com/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- 04_DATOS/sinteticos_raw/respuestas_sinteticas_500.csv</a:t>
            </a:r>
          </a:p>
          <a:p xmlns:a="http://schemas.openxmlformats.org/drawingml/2006/main">
            <a:r>
              <a:t>- 05_ANALISIS/resultados/resultados_analisis.json</a:t>
            </a:r>
          </a:p>
          <a:p xmlns:a="http://schemas.openxmlformats.org/drawingml/2006/main">
            <a:r>
              <a:t>- 05_ANALISIS/laboratorio_velocidad_frutas.ipynb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- 05_ANALISIS/laboratorio_velocidad_frutas.ipynb</a:t>
            </a:r>
          </a:p>
          <a:p xmlns:a="http://schemas.openxmlformats.org/drawingml/2006/main">
            <a:r>
              <a:t>- 05_ANALISIS/laboratorio_velocidad_frutas.html</a:t>
            </a:r>
          </a:p>
          <a:p xmlns:a="http://schemas.openxmlformats.org/drawingml/2006/main">
            <a:r>
              <a:t>- 06_PRESENTACIONES/activos/graficos/01_distribucion_velocidades.png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- 05_ANALISIS/resultados/resultados_analisis.json</a:t>
            </a:r>
          </a:p>
          <a:p xmlns:a="http://schemas.openxmlformats.org/drawingml/2006/main">
            <a:r>
              <a:t>- 05_ANALISIS/scripts/analizar_datos.py</a:t>
            </a:r>
          </a:p>
          <a:p xmlns:a="http://schemas.openxmlformats.org/drawingml/2006/main">
            <a:r>
              <a:t>- 04_DATOS/sinteticos_raw/respuestas_sinteticas_500.csv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- 08_PUBLICACION/CITATION.cff</a:t>
            </a:r>
          </a:p>
          <a:p xmlns:a="http://schemas.openxmlformats.org/drawingml/2006/main">
            <a:r>
              <a:t>- 08_PUBLICACION/zenodo_sandbox_metadata.json</a:t>
            </a:r>
          </a:p>
          <a:p xmlns:a="http://schemas.openxmlformats.org/drawingml/2006/main">
            <a:r>
              <a:t>- https://docs.github.com/en/repositories/releasing-projects-on-github/about-releases</a:t>
            </a:r>
          </a:p>
          <a:p xmlns:a="http://schemas.openxmlformats.org/drawingml/2006/main">
            <a:r>
              <a:t>- https://help.zenodo.org/docs/github/enable-repository/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1c293804754f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14b4b0e1374868" /><Relationship Type="http://schemas.openxmlformats.org/officeDocument/2006/relationships/slideLayout" Target="/ppt/slideLayouts/slideLayout1.xml" Id="R29cd277bfd3a46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cd277bfd3a46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cd2e8d40c4b59" /><Relationship Type="http://schemas.openxmlformats.org/officeDocument/2006/relationships/hyperlink" Target="https://www.youtube.com/watch?v=YpsyM3I0h9k" TargetMode="External" Id="Rba01a9ad60dc403e" /><Relationship Type="http://schemas.openxmlformats.org/officeDocument/2006/relationships/image" Target="/ppt/media/image.png" Id="R17a69f0fc65b4846" /><Relationship Type="http://schemas.openxmlformats.org/officeDocument/2006/relationships/image" Target="/ppt/media/image2.png" Id="Rf0a004f4294b4e9c" /><Relationship Type="http://schemas.openxmlformats.org/officeDocument/2006/relationships/notesSlide" Target="/ppt/notesSlides/notesSlide1.xml" Id="R9e40c033c8b344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8826dd3cb045fb" /><Relationship Type="http://schemas.openxmlformats.org/officeDocument/2006/relationships/image" Target="/ppt/media/image3.png" Id="R2489c2c27c814c81" /><Relationship Type="http://schemas.openxmlformats.org/officeDocument/2006/relationships/image" Target="/ppt/media/image4.png" Id="R5f2a1256172a4bf2" /><Relationship Type="http://schemas.openxmlformats.org/officeDocument/2006/relationships/notesSlide" Target="/ppt/notesSlides/notesSlide2.xml" Id="R59c81c73c17f4e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6a42e448b4977" /><Relationship Type="http://schemas.openxmlformats.org/officeDocument/2006/relationships/notesSlide" Target="/ppt/notesSlides/notesSlide3.xml" Id="R307fea9c89ea43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2c960a0ee4f0a" /><Relationship Type="http://schemas.openxmlformats.org/officeDocument/2006/relationships/notesSlide" Target="/ppt/notesSlides/notesSlide4.xml" Id="Rd0dd943b2ab146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bd79c6b6f9497c" /><Relationship Type="http://schemas.openxmlformats.org/officeDocument/2006/relationships/notesSlide" Target="/ppt/notesSlides/notesSlide5.xml" Id="R7a2c82e240c44c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127d64f98491d" /><Relationship Type="http://schemas.openxmlformats.org/officeDocument/2006/relationships/notesSlide" Target="/ppt/notesSlides/notesSlide6.xml" Id="R096583da134e44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96ae19f8124b53" /><Relationship Type="http://schemas.openxmlformats.org/officeDocument/2006/relationships/image" Target="/ppt/media/image5.png" Id="R27b4b3fdaa85455f" /><Relationship Type="http://schemas.openxmlformats.org/officeDocument/2006/relationships/image" Target="/ppt/media/image6.png" Id="R0af3df23b7964c81" /><Relationship Type="http://schemas.openxmlformats.org/officeDocument/2006/relationships/image" Target="/ppt/media/image7.png" Id="Rfce36ad82bd0434e" /><Relationship Type="http://schemas.openxmlformats.org/officeDocument/2006/relationships/image" Target="/ppt/media/image8.png" Id="R606d3aae105840f4" /><Relationship Type="http://schemas.openxmlformats.org/officeDocument/2006/relationships/notesSlide" Target="/ppt/notesSlides/notesSlide7.xml" Id="R9055d4aa5aee44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e24ed17e341b6" /><Relationship Type="http://schemas.openxmlformats.org/officeDocument/2006/relationships/notesSlide" Target="/ppt/notesSlides/notesSlide8.xml" Id="Rc615558863d74e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39c4e89044bc3" /><Relationship Type="http://schemas.openxmlformats.org/officeDocument/2006/relationships/notesSlide" Target="/ppt/notesSlides/notesSlide9.xml" Id="R402b5f569b5d45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dcefaa4184d62" /><Relationship Type="http://schemas.openxmlformats.org/officeDocument/2006/relationships/notesSlide" Target="/ppt/notesSlides/notesSlide10.xml" Id="R6033561f43324d1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289f9d7df42bd" /><Relationship Type="http://schemas.openxmlformats.org/officeDocument/2006/relationships/image" Target="/ppt/media/image9.png" Id="R1f4e035e7bc347d5" /><Relationship Type="http://schemas.openxmlformats.org/officeDocument/2006/relationships/notesSlide" Target="/ppt/notesSlides/notesSlide11.xml" Id="R046df866041847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183329618a45c9" /><Relationship Type="http://schemas.openxmlformats.org/officeDocument/2006/relationships/notesSlide" Target="/ppt/notesSlides/notesSlide12.xml" Id="R67c1f9caed9741e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39afb6a6a461d" /><Relationship Type="http://schemas.openxmlformats.org/officeDocument/2006/relationships/notesSlide" Target="/ppt/notesSlides/notesSlide13.xml" Id="Rfd720228514647f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2db5bdf474430" /><Relationship Type="http://schemas.openxmlformats.org/officeDocument/2006/relationships/notesSlide" Target="/ppt/notesSlides/notesSlide14.xml" Id="Ra68fabe4ceff47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7e636c4c84def" /><Relationship Type="http://schemas.openxmlformats.org/officeDocument/2006/relationships/notesSlide" Target="/ppt/notesSlides/notesSlide15.xml" Id="Re0cf3dfc633347f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d9a7b9c44a46fa" /><Relationship Type="http://schemas.openxmlformats.org/officeDocument/2006/relationships/image" Target="/ppt/media/image10.png" Id="R36dfadd9c89940d1" /><Relationship Type="http://schemas.openxmlformats.org/officeDocument/2006/relationships/image" Target="/ppt/media/image11.png" Id="Re65df3a7e7c24adb" /><Relationship Type="http://schemas.openxmlformats.org/officeDocument/2006/relationships/notesSlide" Target="/ppt/notesSlides/notesSlide16.xml" Id="Rc5e1311cf43b428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8df8afdee4b79" /><Relationship Type="http://schemas.openxmlformats.org/officeDocument/2006/relationships/notesSlide" Target="/ppt/notesSlides/notesSlide17.xml" Id="R470e0c3981a7475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f35c5ff234100" /><Relationship Type="http://schemas.openxmlformats.org/officeDocument/2006/relationships/notesSlide" Target="/ppt/notesSlides/notesSlide18.xml" Id="Rc985dc8385e7460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1cac33114413f" /><Relationship Type="http://schemas.openxmlformats.org/officeDocument/2006/relationships/image" Target="/ppt/media/image12.png" Id="R8b12d3644f1d4320" /><Relationship Type="http://schemas.openxmlformats.org/officeDocument/2006/relationships/notesSlide" Target="/ppt/notesSlides/notesSlide19.xml" Id="R5ab9c7ee535f4d5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20536ab0ae4029" /><Relationship Type="http://schemas.openxmlformats.org/officeDocument/2006/relationships/chart" Target="/ppt/slides/charts/chart1.xml" Id="R06007a8714f3489a" /><Relationship Type="http://schemas.openxmlformats.org/officeDocument/2006/relationships/notesSlide" Target="/ppt/notesSlides/notesSlide20.xml" Id="R79ed7fe25fdc443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e4c46f2724944" /><Relationship Type="http://schemas.openxmlformats.org/officeDocument/2006/relationships/notesSlide" Target="/ppt/notesSlides/notesSlide21.xml" Id="R6490bdecd33541f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Naranja primero</c:v>
          </c:tx>
          <c:spPr>
            <a:solidFill xmlns:a="http://schemas.openxmlformats.org/drawingml/2006/main">
              <a:srgbClr val="F28C00"/>
            </a:solidFill>
          </c:spPr>
          <c:cat>
            <c:strLit>
              <c:ptCount val="1"/>
              <c:pt idx="0">
                <c:v>Media sintética</c:v>
              </c:pt>
            </c:strLit>
          </c:cat>
          <c:val>
            <c:numLit>
              <c:formatCode>General</c:formatCode>
              <c:ptCount val="1"/>
              <c:pt idx="0">
                <c:v>89.25</c:v>
              </c:pt>
            </c:numLit>
          </c:val>
        </c:ser>
        <c:ser>
          <c:idx val="1"/>
          <c:order val="1"/>
          <c:tx>
            <c:v>Plátano primero</c:v>
          </c:tx>
          <c:spPr>
            <a:solidFill xmlns:a="http://schemas.openxmlformats.org/drawingml/2006/main">
              <a:srgbClr val="0058A3"/>
            </a:solidFill>
          </c:spPr>
          <c:cat>
            <c:strLit>
              <c:ptCount val="1"/>
              <c:pt idx="0">
                <c:v>Media sintética</c:v>
              </c:pt>
            </c:strLit>
          </c:cat>
          <c:val>
            <c:numLit>
              <c:formatCode>General</c:formatCode>
              <c:ptCount val="1"/>
              <c:pt idx="0">
                <c:v>68.67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2020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3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7C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 b="1">
                    <a:solidFill>
                      <a:srgbClr val="66645F"/>
                    </a:solidFill>
                  </a:rPr>
                  <a:t>km/h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66645F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202020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45F"/>
                </a:solidFill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20202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58A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8916FF-4C82-407B-841B-45B69AE8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B9840-4EC1-44D8-897C-7A18328A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638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¿A QUÉ VELOCIDAD</a:t>
            </a:r>
          </a:p>
          <a:p xmlns:a="http://schemas.openxmlformats.org/drawingml/2006/main">
            <a:pPr algn="l">
              <a:buNone/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CONDUCE UNA FRUTA?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46113E-EB0E-44FD-A857-B7CBBAF3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D8E9F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8E9F8"/>
                </a:solidFill>
                <a:latin typeface="Arial"/>
                <a:ea typeface="Arial"/>
                <a:cs typeface="Arial"/>
              </a:rPr>
              <a:t>Elija dos límites. Sin código previo.  </a:t>
            </a:r>
            <a:r>
              <a:rPr sz="1875" b="1">
                <a:solidFill>
                  <a:srgbClr val="D8E9F8"/>
                </a:solidFill>
                <a:latin typeface="Arial"/>
                <a:ea typeface="Arial"/>
                <a:cs typeface="Arial"/>
                <a:hlinkClick xmlns:r="http://schemas.openxmlformats.org/officeDocument/2006/relationships" r:id="Rba01a9ad60dc403e"/>
              </a:rPr>
              <a:t>▶ Vídeo 5 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D5D27-0327-428B-BCE1-3846F9FF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6250"/>
            <a:ext cx="1962150" cy="1962150"/>
          </a:xfrm>
          <a:prstGeom xmlns:a="http://schemas.openxmlformats.org/drawingml/2006/main" prst="roundRect">
            <a:avLst>
              <a:gd name="adj" fmla="val 490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a69f0fc65b4846"/>
          <a:stretch xmlns:a="http://schemas.openxmlformats.org/drawingml/2006/main"/>
        </p:blipFill>
        <p:spPr>
          <a:xfrm xmlns:a="http://schemas.openxmlformats.org/drawingml/2006/main">
            <a:off x="7315200" y="495300"/>
            <a:ext cx="1924050" cy="1924050"/>
          </a:xfrm>
          <a:prstGeom xmlns:a="http://schemas.openxmlformats.org/drawingml/2006/main" prst="roundRect">
            <a:avLst>
              <a:gd name="adj" fmla="val 5000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882A7-5109-448C-A4C5-932EA82C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76250"/>
            <a:ext cx="1962150" cy="1962150"/>
          </a:xfrm>
          <a:prstGeom xmlns:a="http://schemas.openxmlformats.org/drawingml/2006/main" prst="roundRect">
            <a:avLst>
              <a:gd name="adj" fmla="val 490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004f4294b4e9c"/>
          <a:stretch xmlns:a="http://schemas.openxmlformats.org/drawingml/2006/main"/>
        </p:blipFill>
        <p:spPr>
          <a:xfrm xmlns:a="http://schemas.openxmlformats.org/drawingml/2006/main">
            <a:off x="9410700" y="495300"/>
            <a:ext cx="1924050" cy="1924050"/>
          </a:xfrm>
          <a:prstGeom xmlns:a="http://schemas.openxmlformats.org/drawingml/2006/main" prst="roundRect">
            <a:avLst>
              <a:gd name="adj" fmla="val 500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5BCC90-354D-4BEF-B523-70FE0E7E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5431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NARANJA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382C3-92D0-4051-9EDD-AAAE7458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5431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PLÁTANO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6A7EE9-45DC-4B2F-AA34-E487AC6D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15621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9CC52-1379-4783-A51C-D2DC8C91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467350"/>
            <a:ext cx="15621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E25FEE-79AF-46C0-92E4-90BD4492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467350"/>
            <a:ext cx="15621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70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09006-E8E3-4F48-9C9B-76E42AD9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467350"/>
            <a:ext cx="15621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EF4D2-1616-4AFD-A5F3-401211CC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67350"/>
            <a:ext cx="15621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EA143B-4F35-426F-B72A-96637287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467350"/>
            <a:ext cx="15621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C14A0A-B3B4-4749-B415-D1C9F7E9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629275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km/h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591063-090E-4214-9A74-B974AD73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Arquitectura de Datos en Python y Ciencia Abierta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592833-9615-4D03-B6F7-3C955C01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81425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septiembre 2026 · 180 minutos</a:t>
            </a:r>
          </a:p>
        </p:txBody>
      </p:sp>
    </p:spTree>
    <p:extLst>
      <p:ext uri="{BB962C8B-B14F-4D97-AF65-F5344CB8AC3E}">
        <p14:creationId xmlns:p14="http://schemas.microsoft.com/office/powerpoint/2010/main" val="4970643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B227C1-7998-49A6-984A-5E30824F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1051E1-CCC0-4730-944E-A3F20B29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8D2A0-394C-40A4-849C-BBF4EF2C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EL JUEGO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680B0-993B-44D2-A292-74258B59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No hay respuesta correcta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CD4DD-3CB5-4D63-98B4-0DA38B35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DBE72-A95E-42E0-AD84-B73A6669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90700"/>
            <a:ext cx="3181350" cy="3181350"/>
          </a:xfrm>
          <a:prstGeom xmlns:a="http://schemas.openxmlformats.org/drawingml/2006/main" prst="roundRect">
            <a:avLst>
              <a:gd name="adj" fmla="val 494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89c2c27c814c81"/>
          <a:stretch xmlns:a="http://schemas.openxmlformats.org/drawingml/2006/main"/>
        </p:blipFill>
        <p:spPr>
          <a:xfrm xmlns:a="http://schemas.openxmlformats.org/drawingml/2006/main">
            <a:off x="1047750" y="1809750"/>
            <a:ext cx="3143250" cy="3143250"/>
          </a:xfrm>
          <a:prstGeom xmlns:a="http://schemas.openxmlformats.org/drawingml/2006/main" prst="roundRect">
            <a:avLst>
              <a:gd name="adj" fmla="val 500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3AA512-BA22-4F89-A53F-282F1430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90700"/>
            <a:ext cx="3181350" cy="3181350"/>
          </a:xfrm>
          <a:prstGeom xmlns:a="http://schemas.openxmlformats.org/drawingml/2006/main" prst="roundRect">
            <a:avLst>
              <a:gd name="adj" fmla="val 494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a1256172a4bf2"/>
          <a:stretch xmlns:a="http://schemas.openxmlformats.org/drawingml/2006/main"/>
        </p:blipFill>
        <p:spPr>
          <a:xfrm xmlns:a="http://schemas.openxmlformats.org/drawingml/2006/main">
            <a:off x="8001000" y="1809750"/>
            <a:ext cx="3143250" cy="3143250"/>
          </a:xfrm>
          <a:prstGeom xmlns:a="http://schemas.openxmlformats.org/drawingml/2006/main" prst="roundRect">
            <a:avLst>
              <a:gd name="adj" fmla="val 50000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5116CC-9A44-499D-B8BB-36DE53FB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81250"/>
            <a:ext cx="3124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COINCIDIR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058B6F-0FC5-4FFD-89F5-0661E283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62275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645F"/>
                </a:solidFill>
                <a:latin typeface="Arial"/>
                <a:ea typeface="Arial"/>
                <a:cs typeface="Arial"/>
              </a:rPr>
              <a:t>con otra persona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F9AD5-5B6C-470C-8607-CC2508C5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81400"/>
            <a:ext cx="2095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9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+0,50 €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C29ABF-5F73-46AF-A439-7BC35E29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578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La coordinación convierte una intuición en una convención observable.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AF1F34-6B96-4354-AA45-CB43EBA1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2D0960-E387-4656-8167-0FACD0BC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D7F72-8F3F-4DE5-95D5-D0701B45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912321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FBCD4-E233-4928-AFF1-90C1E13A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6FD70E-C52F-45D2-A359-CA744246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125561-8C33-4EE2-B673-71A695FD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PRIVACIDAD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DBDD8-CB85-4DF2-97C7-6B84E91F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Si puedo encontrarte, no eres anónimo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B64497-443B-40F5-AC06-5ED70416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9B1B9-ABEF-42BF-91DA-36E23E90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76425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C2E688-0756-4B7E-B66D-C85BE6FE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ANÓNIMO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3790BB-4858-4734-B7D8-5CA073E2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No existe una vía razonable de reidentificación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9D101-2C66-47C6-ABC7-AC6051AC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38625"/>
            <a:ext cx="3105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F9273-964D-485A-BBCD-F5FF3288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76425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6F4652-F0A8-4F8F-94EA-81B39453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813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SEUDÓNIMO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15BBF9-BA5E-410E-BEC4-B3FEC88E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86125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Existe información adicional. Sigue siendo dato personal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C6A2A-63E0-4F8A-A6C0-7B12B4B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38625"/>
            <a:ext cx="3105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BC4649-813A-4EAF-9757-291D7699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76425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48B474-1F6C-4BDB-9BAD-6A759B45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813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k-ANONIMATO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12B7D3-A66A-4F07-AF51-1579E8EB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86125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Cada patrón reúne, como mínimo, a k personas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618E9-18A3-485D-A4F0-42C3B072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38625"/>
            <a:ext cx="3105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CD343D-17A0-49F0-8B44-D2231134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5720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4827 · 4827 · 7712 · 1934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FDC1BB-0AE9-4102-8D3A-8943A998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52950"/>
            <a:ext cx="20193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k =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5C44D1-EC26-42B2-BD9F-AA46FD38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81625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D719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71920"/>
                </a:solidFill>
                <a:latin typeface="Arial"/>
                <a:ea typeface="Arial"/>
                <a:cs typeface="Arial"/>
              </a:rPr>
              <a:t>Últimos 4 dígitos = fragmento real y enlazable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1E629F-2D68-4B2A-AD4F-39311416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848350"/>
            <a:ext cx="925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Mejor: token aleatorio; la llave la conserva el estudiante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83D3B-2A8F-4AB9-9D3E-2C23449D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9C6C0E-FDDE-48FF-A366-BDA4F627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B8B5EB-8FD6-4343-A4C7-92C0FB5C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19219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DA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C471E-693B-487E-98E7-72F531C4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DD1E8F-BB50-47C4-BB8E-F1F7664C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239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B6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03B6F"/>
                </a:solidFill>
                <a:latin typeface="Arial"/>
                <a:ea typeface="Arial"/>
                <a:cs typeface="Arial"/>
              </a:rPr>
              <a:t>ANTONIO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003B6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03B6F"/>
                </a:solidFill>
                <a:latin typeface="Arial"/>
                <a:ea typeface="Arial"/>
                <a:cs typeface="Arial"/>
              </a:rPr>
              <a:t>ALFONSO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7903CD-26C9-4AE2-8CA4-7F89CCA8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5857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ARQUITECTURA DE DATOS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EN PYTHON Y CIENCIA ABIERTA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EDC73-1634-4F13-AA5B-C43DB5BB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0202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E57AE-A45B-40A1-A6BB-E8AEA17E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38625"/>
            <a:ext cx="5905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No aprenderemos a memorizar sintaxis.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Aprenderemos a leer, ejecutar y auditar.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4BF1B5-85FD-48B0-AECB-6662B176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704850"/>
            <a:ext cx="4000500" cy="5000625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28575">
            <a:solidFill>
              <a:srgbClr val="20202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273CF-3ECE-4731-B825-3123CB1B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066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35E9F7-E8E1-4AD9-8F1C-A4DE6D38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0668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PREGUNTA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6EE89-55E5-4063-9CC7-920AC4DB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668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CABD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BE581-A543-435D-99B7-642DCF41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790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66C843-4B28-42DE-AD62-47F31E21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90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44DAE-F723-4282-A9DB-CB36B18A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CAB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7A0516-1A8F-4C38-AF8A-B395FB2B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14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B9B491-D23B-4C2D-9230-ECFB5B77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146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PROTOCOLO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AAC8AD-28DA-4FFE-AFC7-2EE3C179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146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CAB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A48A4A-85E2-4E58-BEB2-C77008FE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385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189B3D-2198-4DED-8940-BF18E645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19327F-E53B-4E41-BC13-A9CF42DC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CAB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CDAF7-FDC8-4DE7-93C1-400014F8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624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25FF4B-A0B5-4640-9176-F6AA377A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624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CÓDIGO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9D7F2F-2E44-4130-A48B-A1C1F312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624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CABD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9F987C-C9C5-44C0-876F-AA839F81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863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530131-104A-4058-AF55-2D82B553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6863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F35E5B-5E6D-4083-BFAC-D9926950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3B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3B6F"/>
                </a:solidFill>
                <a:latin typeface="Arial"/>
                <a:ea typeface="Arial"/>
                <a:cs typeface="Arial"/>
              </a:rPr>
              <a:t>SIMULACIÓN DOCENTE · DATOS SINTÉTICOS</a:t>
            </a:r>
          </a:p>
        </p:txBody>
      </p:sp>
    </p:spTree>
    <p:extLst>
      <p:ext uri="{BB962C8B-B14F-4D97-AF65-F5344CB8AC3E}">
        <p14:creationId xmlns:p14="http://schemas.microsoft.com/office/powerpoint/2010/main" val="6748794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0055C9-3753-4F49-8F5A-D76DF5AD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4A626-8100-4B7F-A3A6-EE67B32A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6AA7C-37F6-4CD4-9E87-1B54E30F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HIPÓTESIS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A3F33-9CA5-4182-A37E-FD3C336F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PICO-D obliga a decidir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81707-4F9B-40A5-A011-A3641481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F95A36-ED4D-4A75-A23C-113783F5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47875"/>
            <a:ext cx="80010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D7DDD2-3328-4AA9-8E7D-BF25368D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0575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Población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BADCBE-1395-4979-8D80-A12A9E87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400425"/>
            <a:ext cx="2019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Adultos con permiso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80758F-3FB7-429E-88B7-2CB7B467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047875"/>
            <a:ext cx="80010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5EF6B0-3234-4322-808D-6D13B00D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0575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Intervención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EA2B59-09B9-4493-B183-F05D3A8F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00425"/>
            <a:ext cx="2019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Naranja primero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756CD-B903-4BCF-B702-9B523008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47875"/>
            <a:ext cx="80010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4F5429-D0E7-448F-9715-6458CA2C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575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Comparación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51473B-4244-4644-AF7F-F024F144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00425"/>
            <a:ext cx="2019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Plátano primero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17733E-0224-4346-B131-FF118AEA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047875"/>
            <a:ext cx="80010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94868-6C61-4F91-8F5C-6B82DF54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575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Outcome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D51695-3783-4D28-A553-E37F4C91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400425"/>
            <a:ext cx="2019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Velocidad inicial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0EEF8E-C51B-4F53-ACC2-676DB17A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047875"/>
            <a:ext cx="80010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F50569-4392-45F5-981A-A18B718D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575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Diseño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A5DA41-044D-4DEE-8649-618CB510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00425"/>
            <a:ext cx="2019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Asignación 1:1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394BC9-E3B0-4053-8485-2D869964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038725"/>
            <a:ext cx="7543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Primero provisional. Después, verificable.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4DAE63-8138-49F5-979C-ED92350D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7C1B0-6EE8-4C46-8A60-1B298652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69225E-354F-46DE-BE7D-5E2E3502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496543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3B6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C37D4-7284-4195-AFAA-42BEBA74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7A1C6-674C-4219-A9DA-91A6E6E5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0E3DA-C7C0-4A6E-9421-BC5A9406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D8E9F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8E9F8"/>
                </a:solidFill>
                <a:latin typeface="Arial"/>
                <a:ea typeface="Arial"/>
                <a:cs typeface="Arial"/>
              </a:rPr>
              <a:t>HIPÓTESIS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ED46E2-DD78-418B-BB70-1990D2D3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Una hipótesis útil puede fallar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26EB0-BB1F-4BFC-BD49-5732C254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C7EA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E91E79-1D31-46F2-9C30-4B34BE42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114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H₀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CCBEA4-CE74-4E56-A49E-62A16083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152650"/>
            <a:ext cx="4000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μₙ − μₚ ≤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0C80FE-FD9A-4D82-BA3C-821BD2B1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52775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C7EA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080C01-2E76-4462-855A-A98C9019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114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H₁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A4A5A-E566-4C2D-9850-0D55BC30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562350"/>
            <a:ext cx="4000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μₙ − μₚ &gt;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DD66A1-D4A4-444A-B1CB-D0F5F522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38350"/>
            <a:ext cx="4048125" cy="2771775"/>
          </a:xfrm>
          <a:prstGeom xmlns:a="http://schemas.openxmlformats.org/drawingml/2006/main" prst="roundRect">
            <a:avLst>
              <a:gd name="adj" fmla="val 2749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28575">
            <a:solidFill>
              <a:srgbClr val="2020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4C759-FC62-4652-A9B6-7D9861CC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3B6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3B6F"/>
                </a:solidFill>
                <a:latin typeface="Arial"/>
                <a:ea typeface="Arial"/>
                <a:cs typeface="Arial"/>
              </a:rPr>
              <a:t>LÍMITE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C0ECB4-FE89-4698-9EE6-61051F19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62275"/>
            <a:ext cx="3200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Saliencia en esta tarea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≠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seguridad vial universal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2925BD-600E-4F29-A967-AD6881EC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Resultado primario: velocidad_primera_kmh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68D107-42F3-4A75-A8DE-5CDB67A7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626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D8E9F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D8E9F8"/>
                </a:solidFill>
                <a:latin typeface="Arial"/>
                <a:ea typeface="Arial"/>
                <a:cs typeface="Arial"/>
              </a:rPr>
              <a:t>α = 0,05 · Welch unilateral</a:t>
            </a:r>
          </a:p>
        </p:txBody>
      </p:sp>
    </p:spTree>
    <p:extLst>
      <p:ext uri="{BB962C8B-B14F-4D97-AF65-F5344CB8AC3E}">
        <p14:creationId xmlns:p14="http://schemas.microsoft.com/office/powerpoint/2010/main" val="17475114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80B01D-7D9F-4BE3-8F68-43B7CBCB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0C76E-39B5-4983-A253-970CBA8D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D0FC4-40A5-4D0A-93A2-41F3E7C3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DISEÑO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8F12A-05C1-4349-8935-0C33B075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La primera pantalla decide el contraste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17F6F-B9C3-4C70-A5A8-8D0AC1AE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45E5A-21D5-48EA-B477-BE2D0A8D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28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ORDEN 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EE8A1-05DD-4DDC-8565-839255B6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133600" cy="2133600"/>
          </a:xfrm>
          <a:prstGeom xmlns:a="http://schemas.openxmlformats.org/drawingml/2006/main" prst="roundRect">
            <a:avLst>
              <a:gd name="adj" fmla="val 49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b4b3fdaa85455f"/>
          <a:stretch xmlns:a="http://schemas.openxmlformats.org/drawingml/2006/main"/>
        </p:blipFill>
        <p:spPr>
          <a:xfrm xmlns:a="http://schemas.openxmlformats.org/drawingml/2006/main">
            <a:off x="933450" y="2286000"/>
            <a:ext cx="2095500" cy="2095500"/>
          </a:xfrm>
          <a:prstGeom xmlns:a="http://schemas.openxmlformats.org/drawingml/2006/main" prst="roundRect">
            <a:avLst>
              <a:gd name="adj" fmla="val 5000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7E3E4F-2CA6-47A3-817D-B7ABE750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95500"/>
            <a:ext cx="66675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4288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1ª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9815F-A423-4865-8BE0-8F8220DC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7180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81D2E-27A0-4D65-9E59-349E61A2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76500"/>
            <a:ext cx="1714500" cy="171450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3df23b7964c81"/>
          <a:stretch xmlns:a="http://schemas.openxmlformats.org/drawingml/2006/main"/>
        </p:blipFill>
        <p:spPr>
          <a:xfrm xmlns:a="http://schemas.openxmlformats.org/drawingml/2006/main">
            <a:off x="4343400" y="2495550"/>
            <a:ext cx="1676400" cy="1676400"/>
          </a:xfrm>
          <a:prstGeom xmlns:a="http://schemas.openxmlformats.org/drawingml/2006/main" prst="roundRect">
            <a:avLst>
              <a:gd name="adj" fmla="val 50000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0EADF9-BA2E-4AB5-9E02-E0979F55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28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ORDEN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1C9394-8462-4032-8E29-D3209305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66950"/>
            <a:ext cx="2133600" cy="2133600"/>
          </a:xfrm>
          <a:prstGeom xmlns:a="http://schemas.openxmlformats.org/drawingml/2006/main" prst="roundRect">
            <a:avLst>
              <a:gd name="adj" fmla="val 49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e36ad82bd0434e"/>
          <a:stretch xmlns:a="http://schemas.openxmlformats.org/drawingml/2006/main"/>
        </p:blipFill>
        <p:spPr>
          <a:xfrm xmlns:a="http://schemas.openxmlformats.org/drawingml/2006/main">
            <a:off x="6800850" y="2286000"/>
            <a:ext cx="2095500" cy="2095500"/>
          </a:xfrm>
          <a:prstGeom xmlns:a="http://schemas.openxmlformats.org/drawingml/2006/main" prst="roundRect">
            <a:avLst>
              <a:gd name="adj" fmla="val 50000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8F9E2D-7A26-49DD-B3B4-E4D83644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66675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4288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2A4749-43A4-46BB-B079-05C95995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7180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5C408F-0890-417E-B097-98DAA1BF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476500"/>
            <a:ext cx="1714500" cy="171450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6d3aae105840f4"/>
          <a:stretch xmlns:a="http://schemas.openxmlformats.org/drawingml/2006/main"/>
        </p:blipFill>
        <p:spPr>
          <a:xfrm xmlns:a="http://schemas.openxmlformats.org/drawingml/2006/main">
            <a:off x="10210800" y="2495550"/>
            <a:ext cx="1676400" cy="1676400"/>
          </a:xfrm>
          <a:prstGeom xmlns:a="http://schemas.openxmlformats.org/drawingml/2006/main" prst="roundRect">
            <a:avLst>
              <a:gd name="adj" fmla="val 50000"/>
            </a:avLst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58EFD2-FCA1-4124-9E3E-615F2564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387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ENTRE SUJETOS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B8DD4E-B2A3-401A-B574-86A5774E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05425"/>
            <a:ext cx="876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Solo las primeras respuestas confirman. Las segundas describen anclaje y contraste.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4E97B2-84A7-4F04-A55E-862041E6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14165E-9D7C-4003-8885-217F6943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C6CC58-D0A4-4CDE-8349-D9D940F3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151091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7D594F-4C1A-4B7C-9CFE-0C2A8853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2849D8-6C0E-4BEF-82A5-FDD6F619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E62D68-C75C-45CA-A9E2-CD2B4BFA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DISEÑO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DA201-BF36-469B-B8F4-AEAFF1EA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Medir es cerrar puertas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8F304-23FA-4361-8919-88EC1CF6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6B54CE-A949-4FB3-B7D8-D2121C28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33575"/>
            <a:ext cx="481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RESULTADO PRIMARIO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1EC3B-1485-4404-8DFA-A95EF6DF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0275"/>
            <a:ext cx="4810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velocidad_primera_kmh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C0413-1D1D-4193-AA1D-AB02B1EF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CD0152-4204-4B2C-939E-2E709DB6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933575"/>
            <a:ext cx="481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ESCALA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8F5B6E-A854-4827-9E55-F72613F3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0275"/>
            <a:ext cx="4810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30 · 50 · 70 · 90 · 110 · 130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518794-60C0-4237-9EA5-15CFD8E4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800350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E4C3C7-E6B9-46F6-B22C-0BDB5552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481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719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1920"/>
                </a:solidFill>
                <a:latin typeface="Arial"/>
                <a:ea typeface="Arial"/>
                <a:cs typeface="Arial"/>
              </a:rPr>
              <a:t>EXCLUSIÓN MECÁNICA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FC269-8440-4255-9E2B-AE80C44C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4810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cualquier tiempo &lt; 2,0 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1093BF-B7E8-4285-A825-71AAD250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81475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61A72-D1DD-44B6-88C3-94183C1D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14700"/>
            <a:ext cx="481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719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1920"/>
                </a:solidFill>
                <a:latin typeface="Arial"/>
                <a:ea typeface="Arial"/>
                <a:cs typeface="Arial"/>
              </a:rPr>
              <a:t>NO DECIDE LA HIPÓTESIS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FE0BDD-8E6F-4A09-9C4C-EABAA1BE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81400"/>
            <a:ext cx="4810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confianza · segunda respuesta · texto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AF5943-A261-41DE-9973-BC087AD5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81475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176F02-7D3A-48E2-983B-7B2BEA84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24425"/>
            <a:ext cx="10401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Exactamente 2,00 s permanece.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46CBE-75A9-44F9-8AC2-298439D0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F3DF8E-13E1-49F8-B214-44CE624F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31750F-DCEA-494E-8202-F6B978B8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903775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AA2AC-C2CE-4D2F-ABB7-D2B2C97B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31A4A2-84F6-4DBC-AA6F-D9BD4D35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62309-946B-4757-B042-FEDEAD1E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LITERATURA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91ED8-88FC-48B4-BB0F-8BF2ECB9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Elicit localiza; nosotros verificamos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67B1D-CEC9-4435-B284-7F7EE9CA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C19EC-23E5-44AD-8C36-43AA00D5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764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CONSULTA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76E0FD-D628-4F7C-8059-CF9B61AC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105537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7F5EF"/>
          </a:solidFill>
          <a:ln xmlns:a="http://schemas.openxmlformats.org/drawingml/2006/main" w="19050">
            <a:solidFill>
              <a:srgbClr val="D9D7CF"/>
            </a:solidFill>
            <a:prstDash val="solid"/>
          </a:ln>
        </p:spPr>
        <p:txBody>
          <a:bodyPr xmlns:a="http://schemas.openxmlformats.org/drawingml/2006/main" wrap="square" lIns="171450" tIns="152400" rIns="171450" bIns="1143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Which studies measured whether people associate foods with “fast” or “slow”?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5C5807-7648-497E-BF81-D5AA95FC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9092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7DE5C0-DEF2-4CC9-AECE-6FD2AB8B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59092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DISEÑO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227C4C-E930-4DF9-B0F0-BAA6DCFA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90925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809D43-99A3-4DD0-AB2B-CD0003FE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9092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LÍMITE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2BBBC5-E43A-4FE3-9CEB-902DCEDA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90925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UBICACIÓN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50AA5-5D06-4E8C-9CE6-2E8761A4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24325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0202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62783B-F76F-499D-8BFF-4C4DB952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72025"/>
            <a:ext cx="883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Una celda sin página es una pista, no una evidencia.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0C1D6C-7EF6-4EDE-A4B4-A52ABD42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D14262-0D79-4A7E-AFCC-66BBCDB1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1F717-10FF-4B23-B1E1-6842C83B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777748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1919F9-7F38-41F7-8462-4F4893F1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299A6-F785-48BF-958C-AA1C7B91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131929-FA66-48FE-9061-E7233F02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LITERATURA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11092-7B2A-4A12-874A-47B8EC4F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La literatura motiva; no responde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CEA70-1ABE-4E1E-BEA9-0223E0D1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7D8A2-57D5-433D-B912-E2E0B4F9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28825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575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54/81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825DC-262F-4095-848A-A8AC8EF0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956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limón → rápido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E2685-A786-4220-AA58-43906599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028825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575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67/81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C53C9-5513-46A0-9F6A-D0247D73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8956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ciruela pasa → lenta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AB6CC5-FC92-4CC9-8702-DBB367DE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43100"/>
            <a:ext cx="39052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23813">
            <a:solidFill>
              <a:srgbClr val="2020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3BB7CA-2281-4161-B29E-91DF397F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574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3B6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3B6F"/>
                </a:solidFill>
                <a:latin typeface="Arial"/>
                <a:ea typeface="Arial"/>
                <a:cs typeface="Arial"/>
              </a:rPr>
              <a:t>NO ESTUDIA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B81248-4890-4811-B3DA-1B7B9FA3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2415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naranja vs. plátano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km/h · coordinación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seguridad vial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C39334-C1AC-43C5-85DB-8CFECAD0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38700"/>
            <a:ext cx="7658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Antecedente ≠ resultado heredado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E1BDF8-D5D2-496A-A6FB-965AC53F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33860-0AC0-4D20-BC57-19B085B1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C621B1-867B-45C0-8D36-24388511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421279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E66AC-1578-44CD-9F65-F067D736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7BBCF-0D99-4305-A44D-35C3C33E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DCFAF3-E3F6-4359-95A6-E8C8688A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RESEARCHRABBIT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2DEFF-A8E5-4010-94B1-44AD5402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Tres ramas. Una pregunta nueva.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61E470-AE87-40A4-B531-B1A4C6C9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C5A6DA-E110-4C2B-B3F6-97793263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6753225" cy="4019550"/>
          </a:xfrm>
          <a:prstGeom xmlns:a="http://schemas.openxmlformats.org/drawingml/2006/main" prst="roundRect">
            <a:avLst>
              <a:gd name="adj" fmla="val 18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e035e7bc347d5"/>
          <a:stretch xmlns:a="http://schemas.openxmlformats.org/drawingml/2006/main"/>
        </p:blipFill>
        <p:spPr>
          <a:xfrm xmlns:a="http://schemas.openxmlformats.org/drawingml/2006/main">
            <a:off x="781050" y="1872742"/>
            <a:ext cx="6715125" cy="3779266"/>
          </a:xfrm>
          <a:prstGeom xmlns:a="http://schemas.openxmlformats.org/drawingml/2006/main" prst="roundRect">
            <a:avLst>
              <a:gd name="adj" fmla="val 19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8C4520-0338-4084-8E91-AD9E3141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81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DATO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1C641F-B10C-4223-89BC-4B260A99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336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Woods · Spence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F92B1-7ADC-4607-BEF2-AE9B99A0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24175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F43C1F-C59F-4EA9-BFC1-16DB9067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05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MECANISMO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9190D-BCBB-45C3-A5F0-DD6A78E6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5757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Mehta et 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8B9FBA-BB0E-4213-97DE-BC285671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48125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B83D35-82F8-4BE4-85B3-A0586C28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29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LÍMITE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D5870D-D5A0-461A-9834-E8B9D36A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581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Shinar et al.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218DE6-AB75-43EE-B3B7-B91205C9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3911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Una arista invita a leer. No certifica evidencia.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682B68-F745-46D4-9F05-9D1C24B5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2B1C7-BEDC-4DD3-BD81-1AF71238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4CBAB0-FEC3-4E29-8709-386A6ACA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704947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3B6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D2894B-F60E-4056-901C-58C81720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3FF323-9F18-40D9-9FFC-DDDF5F79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36B6C-AF5C-4832-97E4-3A65E411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D8E9F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8E9F8"/>
                </a:solidFill>
                <a:latin typeface="Arial"/>
                <a:ea typeface="Arial"/>
                <a:cs typeface="Arial"/>
              </a:rPr>
              <a:t>PRERREGISTRO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89532-1246-4A9B-A866-6E9D9E03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Congelar antes de observar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31DA5-BDE6-49EF-B2ED-B6310209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C7EA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11026-00BE-4FB8-BCC4-7ED90895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47875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ANTES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B87EED-066D-4BEB-88F0-82FAFB1E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447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hipótesis · N · exclusiones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 · alfa · secundarios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8AA6F-E8A3-40CA-8032-ECCEBC32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781300"/>
            <a:ext cx="95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7CABD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7CABD1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6F53A-93B8-43EC-AABE-8C98E859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47875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DESPUÉS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19B93A-D14A-4526-96E8-F5AB7EE3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956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dato · contraste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desviaciones visibles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0FAA4B-AD76-4F38-94CB-B9A9D921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95825"/>
            <a:ext cx="4191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prereg-v1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07E89B-9693-4BED-8EFD-26757043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848350"/>
            <a:ext cx="636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Una desviación se registra; no se borra.</a:t>
            </a:r>
          </a:p>
        </p:txBody>
      </p:sp>
    </p:spTree>
    <p:extLst>
      <p:ext uri="{BB962C8B-B14F-4D97-AF65-F5344CB8AC3E}">
        <p14:creationId xmlns:p14="http://schemas.microsoft.com/office/powerpoint/2010/main" val="18585936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368734-F2D4-4451-B25B-E4537230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7F807-9059-44B9-8E65-5A5DD6FA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A4AAA-FA4C-403A-BF87-1D9713FA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GOBIERNO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68117-31CF-4441-A950-2DC3B84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Tres contratos. Una sola promesa.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DBBE8-C691-4FF2-A4A1-3B5B0A49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7FA9F-D79C-4C4B-8C5F-0F278CC3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90725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AAD64B-13A0-4BFA-B268-058F9B2E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3105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PRERREGISTRO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B1FD3C-7388-47C1-9211-497AD89A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Qué analizamos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85AFA-0D13-43EC-8511-20779B42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3105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9AF08-C932-4D8E-95E9-DDB91A25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90725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6B4E36-1FCD-4F83-81F0-D5DBB1FA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52750"/>
            <a:ext cx="3105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ÉTICA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373CB-7947-4E6A-B4A5-D8F97AFE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242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Qué podemos pedir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14DBD-B57F-4264-9AE0-BCED3CEC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86250"/>
            <a:ext cx="3105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CC39B2-5923-4585-9D73-E715ABCF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90725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2D1E00-B05E-4ECB-9A2E-0D670B4F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52750"/>
            <a:ext cx="3105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DMP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1998B6-07A7-42CD-BC04-A329A72C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242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Qué puede salir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723F4B-4410-4E0E-9145-E12C4824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86250"/>
            <a:ext cx="3105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5D02B-030F-457C-9980-FA7ECB56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43475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respuesta_abierta · HMAC · bonificación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84F33C-D83E-4CB7-B1D3-7E71F465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486400"/>
            <a:ext cx="830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45F"/>
                </a:solidFill>
                <a:latin typeface="Arial"/>
                <a:ea typeface="Arial"/>
                <a:cs typeface="Arial"/>
              </a:rPr>
              <a:t>Si una palabra cambia entre fichas, el sistema tiene una grieta.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729F08-4ED6-4F26-8578-50466578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A5AAC1-C200-4CFD-9975-7A0C04D3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B5B7B2-26F5-444D-969D-C2AB37B0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589173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FBB7C8-3A8B-4FDE-BF85-5CA57D85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A002B3-ADD2-4E5C-9DB4-DF6F422E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49BC0F-726E-4308-AE1E-B75CAD83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DATOS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72B020-1C2F-46BD-851F-09CBBA63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FAIR no significa «todo abierto»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32349-F1BE-4D33-B1FD-699D1A49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DB50E7-1DB5-4C15-A548-1EC120BA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5025"/>
            <a:ext cx="2381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02020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BADD9-7D95-4FA9-8380-CAF3ECA2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0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preservar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7CD43-6067-451A-8DE5-126BF2E7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219325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C5F90A-6C85-4EF5-B262-5444B79F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105025"/>
            <a:ext cx="2381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71920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RESTRINGIDA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2A0314-D27B-4302-8087-79E61C34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000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proteger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E34B59-1456-42B5-B207-5F721750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19325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A133C0-6334-4528-BDE0-E9EB0BA9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05025"/>
            <a:ext cx="2381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ANALÍTICA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5EF06C-6DB3-4B4F-940C-40FB1408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00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transformar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640AC0-47DC-4851-8941-492BE560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9325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FDC13A-1D49-48BB-A2E6-70470E65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105025"/>
            <a:ext cx="2381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PÚBLICA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664678-44CD-447A-8896-981F582C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000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reutilizar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13761-43B7-48AB-8F5E-6301BBE4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9944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D719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71920"/>
                </a:solidFill>
                <a:latin typeface="Arial"/>
                <a:ea typeface="Arial"/>
                <a:cs typeface="Arial"/>
              </a:rPr>
              <a:t>IDS · tiempos exactos · texto abierto · pagos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D24095-00EB-4502-9512-54142F8D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629150"/>
            <a:ext cx="769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permanecen fuera del depósito público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4A0FB6-8111-4125-84D0-EA245B82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514975"/>
            <a:ext cx="922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Encontrable · Accesible · Interoperable · Reutilizable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E86A69-9E9C-429E-BAAA-A80766A4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9D1375-5408-4D6E-9865-7ECE8AC9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A2434A-3389-4315-8321-E5DA8F7D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6923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6EA907-5D65-403F-B0B1-2FB2A425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E9ACD-5CEF-4534-BCCD-9BF57F5D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980E39-FD6B-477C-8B7B-B60C86FC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TRAZABILIDAD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095089-8703-4760-813F-B56C1232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Carpetas para el estado. Git para la historia.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D381D5-053A-43DE-9964-E8D4B25C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D7071-852A-4D09-BF74-BACC2D36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4476750" cy="3238500"/>
          </a:xfrm>
          <a:prstGeom xmlns:a="http://schemas.openxmlformats.org/drawingml/2006/main" prst="roundRect">
            <a:avLst>
              <a:gd name="adj" fmla="val 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228600" tIns="209550" rIns="190500" bIns="17145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PROYECTO/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├─ 01_literatura/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├─ 02_protocolo/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├─ 03_datos_raw/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├─ 04_datos_publicos/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├─ 05_analisis/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└─ 06_publicacion/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F6C64-537A-45A6-ADD3-CE372B71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438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58A3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058A3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152850-CFCF-4838-8758-07E133A7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9375"/>
            <a:ext cx="438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58A3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058A3"/>
                </a:solidFill>
                <a:latin typeface="Consolas"/>
                <a:ea typeface="Consolas"/>
                <a:cs typeface="Consolas"/>
              </a:rPr>
              <a:t>git diff --staged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26BE2-978D-4E25-BD14-EB325D82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191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git commit -m "protocol: freeze rules"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254FC-9D9D-4508-9F4B-D868E465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10050"/>
            <a:ext cx="438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58A3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058A3"/>
                </a:solidFill>
                <a:latin typeface="Consolas"/>
                <a:ea typeface="Consolas"/>
                <a:cs typeface="Consolas"/>
              </a:rPr>
              <a:t>git tag prereg-v1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F4CE8-EC7D-4B2E-9D6F-27B6DEA3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244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Un commit = una decisión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30F7D-FF28-4C4F-8986-11BDE4EF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848EDC-58A4-4DD2-8F2F-F074F8CE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A742A1-9B40-4707-88F0-02CD829F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157212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6972DD-8332-4103-A8AB-D08BECDB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6FC99-254B-4D21-AE28-7CDE79C9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EC87B-EAA4-4BC0-9834-397CDA4E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INSTRUMENTO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89F63B-41A3-493F-95B7-12DC9626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La miniweb ejecuta el protocolo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F56F6E-BE34-4D85-BADA-4EF18657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A18177-3C1B-4475-A03B-74869586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4495800" cy="3943350"/>
          </a:xfrm>
          <a:prstGeom xmlns:a="http://schemas.openxmlformats.org/drawingml/2006/main" prst="roundRect">
            <a:avLst>
              <a:gd name="adj" fmla="val 19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fadd9c89940d1"/>
          <a:stretch xmlns:a="http://schemas.openxmlformats.org/drawingml/2006/main"/>
        </p:blipFill>
        <p:spPr>
          <a:xfrm xmlns:a="http://schemas.openxmlformats.org/drawingml/2006/main">
            <a:off x="857250" y="2508647"/>
            <a:ext cx="4457700" cy="2507456"/>
          </a:xfrm>
          <a:prstGeom xmlns:a="http://schemas.openxmlformats.org/drawingml/2006/main" prst="roundRect">
            <a:avLst>
              <a:gd name="adj" fmla="val 1951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2C842C-A0F0-432F-AC7E-C31F9879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90700"/>
            <a:ext cx="4495800" cy="3943350"/>
          </a:xfrm>
          <a:prstGeom xmlns:a="http://schemas.openxmlformats.org/drawingml/2006/main" prst="roundRect">
            <a:avLst>
              <a:gd name="adj" fmla="val 19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df3a7e7c24adb"/>
          <a:stretch xmlns:a="http://schemas.openxmlformats.org/drawingml/2006/main"/>
        </p:blipFill>
        <p:spPr>
          <a:xfrm xmlns:a="http://schemas.openxmlformats.org/drawingml/2006/main">
            <a:off x="6877050" y="2508647"/>
            <a:ext cx="4457700" cy="2507456"/>
          </a:xfrm>
          <a:prstGeom xmlns:a="http://schemas.openxmlformats.org/drawingml/2006/main" prst="roundRect">
            <a:avLst>
              <a:gd name="adj" fmla="val 1951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E6F908-A1FE-4B1C-AC38-CB586EAF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CE51F-57FC-4BF1-A716-2A67F9E1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4310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77651F-BCDB-4139-8C64-B18619A5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8483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Consentimiento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EEF03C-A995-4C81-9FFF-D96AC791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8483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Orden persistente · guardado atómico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273291-B9C3-45C5-881C-258B2BC9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3D7785-DF9B-47EC-A8C0-8F030EA5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2C95D2-3BF6-4EAB-9079-7BB74F53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256505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686A66-3446-4A39-A381-F9ED0BBD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E39D58-BC31-44B6-9A78-04219078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32F7F-FAA3-4DA8-97D1-4FD93F91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MUESTRA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9BB5D4-3BE6-4CA1-A5DF-75E7702C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Prolific permanece en borrador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8C256-019A-4138-9F0A-7B741F7A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23AD2-226E-4850-A295-BC2D7FAF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"/>
            <a:ext cx="381000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71920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BORRADOR — NO PUBLICAR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E56403-CB50-4218-AA74-31F5FDE9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233362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500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2F5838-CD7D-4E32-9CBA-5D7DFA5A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76575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plazas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6D503-198D-42E3-B701-AAB04879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47875"/>
            <a:ext cx="233362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4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319815-E827-4A5D-AC62-EC449B63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76575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duración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880E6-4E90-46D6-8B4C-660583EE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47875"/>
            <a:ext cx="233362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£0.60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AC4EEA-DE7B-429C-9F78-BDB1E165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76575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pago 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E6AA69-2662-44D3-A9CD-5793A2C6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47875"/>
            <a:ext cx="233362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18+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AC8C29-E5F1-4EBE-B4EA-2D0B475A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76575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edad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B2F15-F345-4D57-ABAF-7202C24B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095750"/>
            <a:ext cx="8648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español fluido · ordenador · permiso vigente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64E00-015B-4DF8-8EEA-F7BDE0BF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D719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71920"/>
                </a:solidFill>
                <a:latin typeface="Arial"/>
                <a:ea typeface="Arial"/>
                <a:cs typeface="Arial"/>
              </a:rPr>
              <a:t>El bono se añade. Nunca corrige un pago base insuficiente.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452383-665E-4243-9D81-A898900E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3E0A48-7B73-4B26-B2D5-8DFF3FCB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CCA476-E3E8-4D70-85FC-3DA100CA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98313189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8C7787-1F74-4D16-9F23-83A91AE6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A96E3-A35C-4F84-892A-2FE31B2D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EA9416-3255-4C16-8480-67C47D56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PANDAS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F42A7-7074-41E5-B127-90955A73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Antes de calcular, validamos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67AFF-EF65-48F4-93EC-4DAEB487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7A1B8-F1A7-46F4-927A-B4482A55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0500"/>
            <a:ext cx="2686050" cy="3619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4288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76200" tIns="28575" rIns="762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SIMULACIÓN DOCENTE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875FC2-6E78-4CEB-BDDF-FBAF825A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500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A258FC-5644-4D15-9FBD-CEBA6F99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289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recibidas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D59BEF-028F-4BCB-A76F-047EAD50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1526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50" b="1">
                <a:solidFill>
                  <a:srgbClr val="D7192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D71920"/>
                </a:solidFill>
                <a:latin typeface="Arial"/>
                <a:ea typeface="Arial"/>
                <a:cs typeface="Arial"/>
              </a:rPr>
              <a:t>− 20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7461CC-E5EF-457A-BD75-8747DC17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2289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&lt; 2,0 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DA292-20B3-45B6-9B0A-B03DDE47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526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50" b="1">
                <a:solidFill>
                  <a:srgbClr val="2F6B4F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2F6B4F"/>
                </a:solidFill>
                <a:latin typeface="Arial"/>
                <a:ea typeface="Arial"/>
                <a:cs typeface="Arial"/>
              </a:rPr>
              <a:t>= 480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4B408C-46E7-4530-9817-425FC772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289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válidas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8FA2E1-A271-4A97-A3C8-D3B08B97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202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3DE9AC-D07A-473F-A4EA-9C7BDFDA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574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202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82BDE4-FD84-48D1-AF55-ABE9198F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78486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F5E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02020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202020"/>
                </a:solidFill>
                <a:latin typeface="Consolas"/>
                <a:ea typeface="Consolas"/>
                <a:cs typeface="Consolas"/>
              </a:rPr>
              <a:t>df = df.loc[(t1 &gt;= 2.0) &amp; (t2 &gt;= 2.0)]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F456C3-236C-41B4-AFAF-B55539A5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4292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2,00 permanece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F6CC98-807C-46C7-B35E-02CC68F9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183821-0E74-41A3-BFD2-BFB8A8E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4D89E5-E6B7-45A3-8382-A8935292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6160829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FA6C93-5889-4E17-AB6A-7E6110EC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3DDBFD-419F-45C8-8B53-6F062765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0E3EF-B8CF-48C9-AE0F-4BFFF1DD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JUPYTER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E1A4B-7B3E-48BA-8217-FDCA2315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Leer Python es seguir una tubería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431BF-4DE8-4B24-91DF-1B05B471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F2E05-F576-4EB6-8229-C871FC65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7167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95F04-AA1B-4FE0-BE25-019BAFE7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0383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CARGAR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6200C-4534-4C19-B65E-3C42FE75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4797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EFCDD-2BEB-4982-B51D-6EF4271F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146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FILTRAR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54322-BC16-4894-8480-FDF675B7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2427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54448E-95BC-45B7-899D-630B9D7A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909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AGRUPAR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CA3BC-65BA-4069-84DF-DE7139A1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0057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F98771-7744-4FB0-A5EC-1FAD26B9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MOSTRAR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C52165-3C12-4EC1-8E40-9CCE7ABE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38325"/>
            <a:ext cx="6762750" cy="3771900"/>
          </a:xfrm>
          <a:prstGeom xmlns:a="http://schemas.openxmlformats.org/drawingml/2006/main" prst="roundRect">
            <a:avLst>
              <a:gd name="adj" fmla="val 20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2020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12d3644f1d4320"/>
          <a:stretch xmlns:a="http://schemas.openxmlformats.org/drawingml/2006/main"/>
        </p:blipFill>
        <p:spPr>
          <a:xfrm xmlns:a="http://schemas.openxmlformats.org/drawingml/2006/main">
            <a:off x="5081817" y="1857375"/>
            <a:ext cx="5590717" cy="3733800"/>
          </a:xfrm>
          <a:prstGeom xmlns:a="http://schemas.openxmlformats.org/drawingml/2006/main" prst="roundRect">
            <a:avLst>
              <a:gd name="adj" fmla="val 2041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2F51B-DCD9-43F3-922C-0BD27A6F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743575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Cambiar el color no cambia el dato.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B0741-8C60-4415-8D78-1BD12493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686C5A-ACD6-4516-9F17-39EB3740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DF5FF3-BBAB-488E-BBEF-3845F91C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57369485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FFAEA1-8AD4-4895-9578-4C7A0717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8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102730-E75D-4DA8-8F88-69BCFCAB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7FB7B-1329-4880-B85E-C4EF5BD2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072B80-CB4B-4EE8-913D-61478CEC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La simulación cumple el guion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85794-4529-4B72-8F9E-C282112D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152C4-8FA4-4335-9F72-41B5F29E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0500"/>
            <a:ext cx="2686050" cy="3619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4288">
            <a:solidFill>
              <a:srgbClr val="202020"/>
            </a:solidFill>
            <a:prstDash val="solid"/>
          </a:ln>
        </p:spPr>
        <p:txBody>
          <a:bodyPr xmlns:a="http://schemas.openxmlformats.org/drawingml/2006/main" wrap="square" lIns="76200" tIns="28575" rIns="762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SIMULACIÓN DOCENTE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781050" y="1962150"/>
          <a:ext xmlns:a="http://schemas.openxmlformats.org/drawingml/2006/main" cx="6572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007a8714f3489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1354C-13EB-45FC-BB12-82624D08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4787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75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+20,58 km/h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C8CF2-4C2E-4EAB-B811-A2AF371E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2417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IC 95 % 17,69–23,48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286C89-042F-4D53-82FF-352D021C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623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t = 13,96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0EDB7A-508C-42BB-BA9D-C9B049C1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6235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 &lt; 0,001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FAEE32-8E46-4E4C-913A-4148C1E6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1957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7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ECD021-DE53-460B-A2D7-4F3B7DBE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2437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Coordinación Σp²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D99AD9-AEB1-4142-AD57-8B26839D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244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0,377 naranja · 0,328 plátano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5753E2-6452-4E9D-B8CE-154B7416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724525"/>
            <a:ext cx="377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719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1920"/>
                </a:solidFill>
                <a:latin typeface="Arial"/>
                <a:ea typeface="Arial"/>
                <a:cs typeface="Arial"/>
              </a:rPr>
              <a:t>Resultado sintético ≠ evidencia vial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171053-CA51-4DB1-8DD0-CD40A31D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629581-111E-45E5-98E5-1DBF010B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64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645F"/>
                </a:solidFill>
                <a:latin typeface="Arial"/>
                <a:ea typeface="Arial"/>
                <a:cs typeface="Arial"/>
              </a:rPr>
              <a:t>ARQUITECTURA DE DATOS ·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A62CF6-041B-4BEE-BC5F-80984F95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5151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58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8A3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4972914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058A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84CC3D-C359-4096-8B69-FC4B60D1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7F2D0-A1F4-4FC3-BDAA-B09E8D48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BD0C7-570D-4575-A506-A4F2AF00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72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D8E9F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8E9F8"/>
                </a:solidFill>
                <a:latin typeface="Arial"/>
                <a:ea typeface="Arial"/>
                <a:cs typeface="Arial"/>
              </a:rPr>
              <a:t>PUBLICACIÓN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F562B8-51E2-4F23-BC52-2721C044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"/>
            <a:ext cx="982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Versionar. Liberar. Citar.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EB155-7E88-4988-9FDE-D3E2A8B3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438275"/>
            <a:ext cx="982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C7EA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2FCBF3-C0B5-48EE-A3BA-AA798B91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85725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3B6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3B6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17CA0-2B94-41C2-89C8-575FA093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67075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810C7-112E-4FA2-9A34-91E04D0D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3714750"/>
            <a:ext cx="2457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D8E9F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8E9F8"/>
                </a:solidFill>
                <a:latin typeface="Arial"/>
                <a:ea typeface="Arial"/>
                <a:cs typeface="Arial"/>
              </a:rPr>
              <a:t>historia local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ADFDB-AB84-4EA6-AB7B-BD53BE1C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266950"/>
            <a:ext cx="876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7CABD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7CABD1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974334-105A-4B18-B103-6D4BB161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143125"/>
            <a:ext cx="85725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3B6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3B6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BD0AB-D8A8-498A-AE29-7E4E86A3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67075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93462-206C-4573-A189-87CC0682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14750"/>
            <a:ext cx="2457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D8E9F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8E9F8"/>
                </a:solidFill>
                <a:latin typeface="Arial"/>
                <a:ea typeface="Arial"/>
                <a:cs typeface="Arial"/>
              </a:rPr>
              <a:t>release v1.0.0-demo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3C91F0-6B9D-42E8-827D-ECD68717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266950"/>
            <a:ext cx="876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7CABD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7CABD1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287CD2-82E3-405D-87DC-3950BB66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43125"/>
            <a:ext cx="85725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3B6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3B6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828255-DF77-498F-8CAF-BDB862D2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67075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ZENODO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CD25A-6A18-4CB4-8381-B7706694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14750"/>
            <a:ext cx="2457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D8E9F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8E9F8"/>
                </a:solidFill>
                <a:latin typeface="Arial"/>
                <a:ea typeface="Arial"/>
                <a:cs typeface="Arial"/>
              </a:rPr>
              <a:t>Sandbox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434BF-70E2-49E4-A72C-5D5528D1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266950"/>
            <a:ext cx="876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7CABD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7CABD1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280B83-64DE-4504-84E1-B59AEC83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143125"/>
            <a:ext cx="85725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A1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84BAAD-7784-419C-9C37-41853463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267075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5D7E39-9AC1-4D96-8D09-1DB047D7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714750"/>
            <a:ext cx="2457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D8E9F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8E9F8"/>
                </a:solidFill>
                <a:latin typeface="Arial"/>
                <a:ea typeface="Arial"/>
                <a:cs typeface="Arial"/>
              </a:rPr>
              <a:t>objeto citable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6EC87C-A33F-49F0-8C44-DA896326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149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 conocimiento no se archiva.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2AC73E-7FCE-454A-8967-30FE226F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76875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FDA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DA1A"/>
                </a:solidFill>
                <a:latin typeface="Arial"/>
                <a:ea typeface="Arial"/>
                <a:cs typeface="Arial"/>
              </a:rPr>
              <a:t>Se versiona, se ejecuta y se audita.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55DA41-AE17-4D83-9F47-FE82D729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162675"/>
            <a:ext cx="678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GitHub y Zenodo permanecen en demostración / Sandbox</a:t>
            </a:r>
          </a:p>
        </p:txBody>
      </p:sp>
    </p:spTree>
    <p:extLst>
      <p:ext uri="{BB962C8B-B14F-4D97-AF65-F5344CB8AC3E}">
        <p14:creationId xmlns:p14="http://schemas.microsoft.com/office/powerpoint/2010/main" val="7722704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2026-08-30T14:29:12.5830000Z</dcterms:created>
  <dcterms:modified xsi:type="dcterms:W3CDTF">2026-08-30T14:29:12.5840000Z</dcterms:modified>
</coreProperties>
</file>